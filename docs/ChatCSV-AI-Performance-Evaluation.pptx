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91044a1-b012-84bb-c10c-9be02998fb80}">
          <p14:sldIdLst>
            <p14:sldId id="256"/>
            <p14:sldId id="257"/>
            <p14:sldId id="258"/>
          </p14:sldIdLst>
        </p14:section>
        <p14:section name="The AI model" id="{93fb0fb5-10b6-c16c-1ad5-4751e62faf6d}">
          <p14:sldIdLst>
            <p14:sldId id="259"/>
            <p14:sldId id="260"/>
          </p14:sldIdLst>
        </p14:section>
        <p14:section name="Token size" id="{d0fe7e67-9766-47ca-4a4f-fee90c608a96}">
          <p14:sldIdLst>
            <p14:sldId id="261"/>
            <p14:sldId id="262"/>
          </p14:sldIdLst>
        </p14:section>
        <p14:section name="Evaluation" id="{d4d23e15-b18e-5fcf-0b7a-ff9525beadeb}">
          <p14:sldIdLst>
            <p14:sldId id="263"/>
            <p14:sldId id="264"/>
            <p14:sldId id="265"/>
            <p14:sldId id="266"/>
          </p14:sldIdLst>
        </p14:section>
        <p14:section name="Safety and wrap-up" id="{5f56bb0b-9af0-5f51-245f-01dc0e9ccf5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4155"/>
                </a:solidFill>
                <a:latin typeface="+mn-lt"/>
              </a:defRPr>
            </a:pPr>
            <a:r>
              <a:rPr sz="1400" b="0" i="0" u="none" strike="noStrike">
                <a:solidFill>
                  <a:srgbClr val="334155"/>
                </a:solidFill>
                <a:latin typeface="+mn-lt"/>
              </a:rPr>
              <a:t>Tokens sent to the AI for one question</a:t>
            </a:r>
          </a:p>
        </c:rich>
      </c:tx>
      <c:layout/>
      <c:overlay val="0"/>
    </c:title>
    <c:autoTitleDeleted val="0"/>
    <c:plotArea>
      <c:layout/>
      <c:barChart>
        <c:barDir val="col"/>
        <c:grouping val="stacked"/>
        <c:varyColors val="0"/>
        <c:ser>
          <c:idx val="0"/>
          <c:order val="0"/>
          <c:tx>
            <c:strRef>
              <c:f>Sheet1!$B$1</c:f>
              <c:strCache>
                <c:ptCount val="1"/>
                <c:pt idx="0">
                  <c:v>Fixed instructions (same every time)</c:v>
                </c:pt>
              </c:strCache>
            </c:strRef>
          </c:tx>
          <c:spPr>
            <a:solidFill>
              <a:srgbClr val="6366F1"/>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Students file</c:v>
                  </c:pt>
                  <c:pt idx="1">
                    <c:v>Sales file</c:v>
                  </c:pt>
                </c:lvl>
              </c:multiLvlStrCache>
            </c:multiLvlStrRef>
          </c:cat>
          <c:val>
            <c:numRef>
              <c:f>Sheet1!$B$2:$B$3</c:f>
              <c:numCache>
                <c:formatCode>General</c:formatCode>
                <c:ptCount val="2"/>
                <c:pt idx="0">
                  <c:v>1554</c:v>
                </c:pt>
                <c:pt idx="1">
                  <c:v>1554</c:v>
                </c:pt>
              </c:numCache>
            </c:numRef>
          </c:val>
        </c:ser>
        <c:ser>
          <c:idx val="1"/>
          <c:order val="1"/>
          <c:tx>
            <c:strRef>
              <c:f>Sheet1!$C$1</c:f>
              <c:strCache>
                <c:ptCount val="1"/>
                <c:pt idx="0">
                  <c:v>Dataset description + question</c:v>
                </c:pt>
              </c:strCache>
            </c:strRef>
          </c:tx>
          <c:spPr>
            <a:solidFill>
              <a:srgbClr val="10B981"/>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Students file</c:v>
                  </c:pt>
                  <c:pt idx="1">
                    <c:v>Sales file</c:v>
                  </c:pt>
                </c:lvl>
              </c:multiLvlStrCache>
            </c:multiLvlStrRef>
          </c:cat>
          <c:val>
            <c:numRef>
              <c:f>Sheet1!$C$2:$C$3</c:f>
              <c:numCache>
                <c:formatCode>General</c:formatCode>
                <c:ptCount val="2"/>
                <c:pt idx="0">
                  <c:v>528</c:v>
                </c:pt>
                <c:pt idx="1">
                  <c:v>746</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500"/>
      </c:valAx>
      <c:spPr>
        <a:noFill/>
        <a:ln>
          <a:noFill/>
        </a:ln>
        <a:effectLst/>
      </c:spPr>
    </c:plotArea>
    <c:legend>
      <c:legendPos val="b"/>
      <c:overlay val="0"/>
      <c:txPr>
        <a:bodyPr/>
        <a:lstStyle/>
        <a:p>
          <a:pPr>
            <a:defRPr>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4155"/>
                </a:solidFill>
                <a:latin typeface="+mn-lt"/>
              </a:defRPr>
            </a:pPr>
            <a:r>
              <a:rPr sz="1400" b="0" i="0" u="none" strike="noStrike">
                <a:solidFill>
                  <a:srgbClr val="334155"/>
                </a:solidFill>
                <a:latin typeface="+mn-lt"/>
              </a:rPr>
              <a:t>Share of questions answered correctly</a:t>
            </a:r>
          </a:p>
        </c:rich>
      </c:tx>
      <c:layout/>
      <c:overlay val="0"/>
    </c:title>
    <c:autoTitleDeleted val="0"/>
    <c:plotArea>
      <c:layout/>
      <c:barChart>
        <c:barDir val="col"/>
        <c:grouping val="clustered"/>
        <c:varyColors val="0"/>
        <c:ser>
          <c:idx val="0"/>
          <c:order val="0"/>
          <c:tx>
            <c:strRef>
              <c:f>Sheet1!$B$1</c:f>
              <c:strCache>
                <c:ptCount val="1"/>
                <c:pt idx="0">
                  <c:v>Correct answers (%)</c:v>
                </c:pt>
              </c:strCache>
            </c:strRef>
          </c:tx>
          <c:spPr>
            <a:solidFill>
              <a:srgbClr val="10B981"/>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Main set (40 questions)</c:v>
                  </c:pt>
                  <c:pt idx="1">
                    <c:v>New questions, first run (25)</c:v>
                  </c:pt>
                  <c:pt idx="2">
                    <c:v>New questions, after 2 fixes (25)</c:v>
                  </c:pt>
                </c:lvl>
              </c:multiLvlStrCache>
            </c:multiLvlStrRef>
          </c:cat>
          <c:val>
            <c:numRef>
              <c:f>Sheet1!$B$2:$B$4</c:f>
              <c:numCache>
                <c:formatCode>General</c:formatCode>
                <c:ptCount val="3"/>
                <c:pt idx="0">
                  <c:v>100</c:v>
                </c:pt>
                <c:pt idx="1">
                  <c:v>96</c:v>
                </c:pt>
                <c:pt idx="2">
                  <c:v>100</c:v>
                </c:pt>
              </c:numCache>
            </c:numRef>
          </c:val>
        </c:ser>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4155"/>
                </a:solidFill>
                <a:latin typeface="+mn-lt"/>
              </a:defRPr>
            </a:pPr>
            <a:r>
              <a:rPr sz="1400" b="0" i="0" u="none" strike="noStrike">
                <a:solidFill>
                  <a:srgbClr val="334155"/>
                </a:solidFill>
                <a:latin typeface="+mn-lt"/>
              </a:rPr>
              <a:t>AI model: share of questions answered correctly</a:t>
            </a:r>
          </a:p>
        </c:rich>
      </c:tx>
      <c:layout/>
      <c:overlay val="0"/>
    </c:title>
    <c:autoTitleDeleted val="0"/>
    <c:plotArea>
      <c:layout/>
      <c:barChart>
        <c:barDir val="col"/>
        <c:grouping val="clustered"/>
        <c:varyColors val="0"/>
        <c:ser>
          <c:idx val="0"/>
          <c:order val="0"/>
          <c:tx>
            <c:strRef>
              <c:f>Sheet1!$B$1</c:f>
              <c:strCache>
                <c:ptCount val="1"/>
                <c:pt idx="0">
                  <c:v>Correct answers (%)</c:v>
                </c:pt>
              </c:strCache>
            </c:strRef>
          </c:tx>
          <c:spPr>
            <a:solidFill>
              <a:srgbClr val="6366F1"/>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Sheet1!$A$2:$A$3</c:f>
              <c:multiLvlStrCache>
                <c:ptCount val="2"/>
                <c:lvl>
                  <c:pt idx="0">
                    <c:v>Main set (40)</c:v>
                  </c:pt>
                  <c:pt idx="1">
                    <c:v>New questions (25)</c:v>
                  </c:pt>
                </c:lvl>
              </c:multiLvlStrCache>
            </c:multiLvlStrRef>
          </c:cat>
          <c:val>
            <c:numRef>
              <c:f>Sheet1!$B$2:$B$3</c:f>
              <c:numCache>
                <c:formatCode>General</c:formatCode>
                <c:ptCount val="2"/>
                <c:pt idx="0">
                  <c:v>100</c:v>
                </c:pt>
                <c:pt idx="1">
                  <c:v>92</c:v>
                </c:pt>
              </c:numCache>
            </c:numRef>
          </c:val>
        </c:ser>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34155"/>
                </a:solidFill>
                <a:latin typeface="+mn-lt"/>
              </a:defRPr>
            </a:pPr>
            <a:r>
              <a:rPr sz="1400" b="0" i="0" u="none" strike="noStrike">
                <a:solidFill>
                  <a:srgbClr val="334155"/>
                </a:solidFill>
                <a:latin typeface="+mn-lt"/>
              </a:rPr>
              <a:t>Average time per question type, AI model (milliseconds)</a:t>
            </a:r>
          </a:p>
        </c:rich>
      </c:tx>
      <c:layout/>
      <c:overlay val="0"/>
    </c:title>
    <c:autoTitleDeleted val="0"/>
    <c:plotArea>
      <c:layout/>
      <c:barChart>
        <c:barDir val="bar"/>
        <c:grouping val="clustered"/>
        <c:varyColors val="0"/>
        <c:ser>
          <c:idx val="0"/>
          <c:order val="0"/>
          <c:tx>
            <c:strRef>
              <c:f>Sheet1!$B$1</c:f>
              <c:strCache>
                <c:ptCount val="1"/>
                <c:pt idx="0">
                  <c:v>Average time (ms)</c:v>
                </c:pt>
              </c:strCache>
            </c:strRef>
          </c:tx>
          <c:spPr>
            <a:solidFill>
              <a:srgbClr val="6366F1"/>
            </a:solidFill>
            <a:effectLst/>
          </c:spPr>
          <c:invertIfNegative val="0"/>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Sheet1!$A$2:$A$9</c:f>
              <c:multiLvlStrCache>
                <c:ptCount val="8"/>
                <c:lvl>
                  <c:pt idx="0">
                    <c:v>Aggregation</c:v>
                  </c:pt>
                  <c:pt idx="1">
                    <c:v>Group-by</c:v>
                  </c:pt>
                  <c:pt idx="2">
                    <c:v>Filtering</c:v>
                  </c:pt>
                  <c:pt idx="3">
                    <c:v>Top-N</c:v>
                  </c:pt>
                  <c:pt idx="4">
                    <c:v>Stats &amp; charts</c:v>
                  </c:pt>
                  <c:pt idx="5">
                    <c:v>Advanced</c:v>
                  </c:pt>
                  <c:pt idx="6">
                    <c:v>Refusal</c:v>
                  </c:pt>
                  <c:pt idx="7">
                    <c:v>Error handling</c:v>
                  </c:pt>
                </c:lvl>
              </c:multiLvlStrCache>
            </c:multiLvlStrRef>
          </c:cat>
          <c:val>
            <c:numRef>
              <c:f>Sheet1!$B$2:$B$9</c:f>
              <c:numCache>
                <c:formatCode>General</c:formatCode>
                <c:ptCount val="8"/>
                <c:pt idx="0">
                  <c:v>1169</c:v>
                </c:pt>
                <c:pt idx="1">
                  <c:v>1300</c:v>
                </c:pt>
                <c:pt idx="2">
                  <c:v>1129</c:v>
                </c:pt>
                <c:pt idx="3">
                  <c:v>1162</c:v>
                </c:pt>
                <c:pt idx="4">
                  <c:v>1320</c:v>
                </c:pt>
                <c:pt idx="5">
                  <c:v>1286</c:v>
                </c:pt>
                <c:pt idx="6">
                  <c:v>1171</c:v>
                </c:pt>
                <c:pt idx="7">
                  <c:v>1043</c:v>
                </c:pt>
              </c:numCache>
            </c:numRef>
          </c:val>
        </c:ser>
        <c:dLbls>
          <c:numFmt formatCode="#,##0"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you upload a CSV, ask a question in English, and get an answer, table or chart. This deck explains how well the AI part performs and how we measured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Three steps: upload, ask, get the answer. The example shows a real answer from the sample students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for the jury. The AI produces a structured plan; validation and pandas do the real work. That is how we prevent hallucinated numbers and unsafe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120B is in the model name. Context 131,072 and max output 65,536 come from Groq's published model table. We evaluated the largest model our Groq account could use. The app can use any OpenAI-compatible model; there is also an offline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0 is the most important one: we want the same plan every time. The JSON-only format and the one retry are what make the AI output reliable enough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1,550 tokens are the fixed instructions; the rest is the description of this specific dataset plus the question. The reply is tiny: about 35 tokens. These are tiktoken estimates, not provider-billed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for the 100-row demo file the sizes are similar. The point is scaling: our cost per question is constant, while pasting the table grows with every row and breaks the context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ground truth is computed with pandas on the same data, so there is no human judgement involved. The held-out set exists to avoid fooling ourselves: we wrote the planner against the first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 percent on the main set is optimistic because we developed against it. The first run on the new questions, 96 percent, is the realistic number. It found two real bugs which we fixed and covered with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running the same 65-question test directly against the AI model, with no fallback to the rule-based planner, so failures are the model's own. The free tier caps tokens per minute, so the test waited when told to; that waiting is not counted in the speed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excludes time spent waiting for the free tier's tokens-per-minute limit. The app now shows total, plan and execute time for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design property, not an afterthought: the AI output is data and is validated; there is no exec or eval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for the question: what are your performance parameters? Accuracy, refusal accuracy, latency, tokens, calls, reliability,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first, then what we would do next. The biggest practical next step is running the AI evaluation with a key and comparing a smaller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Close by offering a live demo with the sample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4980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566160"/>
            <a:ext cx="749808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ChatCSV AI · Performance evaluation</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498080" cy="1371600"/>
          </a:xfrm>
          <a:prstGeom prst="rect">
            <a:avLst/>
          </a:prstGeom>
          <a:noFill/>
          <a:ln/>
        </p:spPr>
        <p:txBody>
          <a:bodyPr wrap="square" lIns="0" tIns="0" rIns="0" bIns="0" rtlCol="0" anchor="b"/>
          <a:lstStyle/>
          <a:p>
            <a:pPr algn="l" indent="0" marL="0">
              <a:buNone/>
            </a:pPr>
            <a:r>
              <a:rPr lang="en-US" sz="5400" b="1" dirty="0">
                <a:solidFill>
                  <a:schemeClr val="bg1"/>
                </a:solidFill>
              </a:rPr>
              <a:t>ChatCSV AI</a:t>
            </a:r>
            <a:endParaRPr lang="en-US" sz="5400" dirty="0"/>
          </a:p>
        </p:txBody>
      </p:sp>
      <p:sp>
        <p:nvSpPr>
          <p:cNvPr id="3" name="Text 0"/>
          <p:cNvSpPr/>
          <p:nvPr>
            <p:ph idx="101" type="body" hasCustomPrompt="1"/>
          </p:nvPr>
        </p:nvSpPr>
        <p:spPr>
          <a:xfrm>
            <a:off x="731520" y="3566160"/>
            <a:ext cx="7498080" cy="1188720"/>
          </a:xfrm>
          <a:prstGeom prst="rect">
            <a:avLst/>
          </a:prstGeom>
          <a:noFill/>
          <a:ln/>
        </p:spPr>
        <p:txBody>
          <a:bodyPr wrap="square" lIns="0" tIns="0" rIns="0" bIns="0" rtlCol="0" anchor="t"/>
          <a:lstStyle/>
          <a:p>
            <a:pPr algn="l" indent="0" marL="0">
              <a:buNone/>
            </a:pPr>
            <a:r>
              <a:rPr lang="en-US" sz="2200" b="1" dirty="0">
                <a:solidFill>
                  <a:schemeClr val="bg2"/>
                </a:solidFill>
              </a:rPr>
              <a:t>How well does the AI model perform?</a:t>
            </a:r>
            <a:endParaRPr lang="en-US" sz="2200" dirty="0"/>
          </a:p>
          <a:p>
            <a:pPr algn="l" indent="0" marL="0">
              <a:buNone/>
            </a:pPr>
            <a:r>
              <a:rPr lang="en-US" sz="1800" dirty="0">
                <a:solidFill>
                  <a:schemeClr val="accent6"/>
                </a:solidFill>
              </a:rPr>
              <a:t>Performance evaluation report · PS 91 – Chat with your CSV</a:t>
            </a:r>
            <a:endParaRPr lang="en-US" sz="2200" dirty="0"/>
          </a:p>
        </p:txBody>
      </p:sp>
      <p:sp>
        <p:nvSpPr>
          <p:cNvPr id="4" name="hero-circle"/>
          <p:cNvSpPr/>
          <p:nvPr/>
        </p:nvSpPr>
        <p:spPr>
          <a:xfrm>
            <a:off x="8595360" y="1463040"/>
            <a:ext cx="3108960" cy="3108960"/>
          </a:xfrm>
          <a:prstGeom prst="ellipse">
            <a:avLst/>
          </a:prstGeom>
          <a:solidFill>
            <a:schemeClr val="accent1"/>
          </a:solidFill>
          <a:ln w="12700">
            <a:solidFill>
              <a:schemeClr val="accent1"/>
            </a:solidFill>
            <a:prstDash val="solid"/>
          </a:ln>
        </p:spPr>
      </p:sp>
      <p:pic>
        <p:nvPicPr>
          <p:cNvPr id="5" name="hero-icon" descr="preencoded.png">    </p:cNvPr>
          <p:cNvPicPr>
            <a:picLocks noChangeAspect="1"/>
          </p:cNvPicPr>
          <p:nvPr/>
        </p:nvPicPr>
        <p:blipFill>
          <a:blip r:embed="rId1"/>
          <a:stretch>
            <a:fillRect/>
          </a:stretch>
        </p:blipFill>
        <p:spPr>
          <a:xfrm>
            <a:off x="9464040" y="23317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idea in one minute</a:t>
            </a:r>
            <a:endParaRPr lang="en-US" sz="3400" dirty="0"/>
          </a:p>
        </p:txBody>
      </p:sp>
      <p:sp>
        <p:nvSpPr>
          <p:cNvPr id="3" name="step-card-0"/>
          <p:cNvSpPr/>
          <p:nvPr/>
        </p:nvSpPr>
        <p:spPr>
          <a:xfrm>
            <a:off x="548640" y="1463040"/>
            <a:ext cx="3566160" cy="2743200"/>
          </a:xfrm>
          <a:prstGeom prst="roundRect">
            <a:avLst>
              <a:gd name="adj" fmla="val 4000"/>
            </a:avLst>
          </a:prstGeom>
          <a:solidFill>
            <a:schemeClr val="bg1"/>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4" name="icon-bg-FaUpload"/>
          <p:cNvSpPr/>
          <p:nvPr/>
        </p:nvSpPr>
        <p:spPr>
          <a:xfrm>
            <a:off x="822960" y="1737360"/>
            <a:ext cx="822960" cy="822960"/>
          </a:xfrm>
          <a:prstGeom prst="ellipse">
            <a:avLst/>
          </a:prstGeom>
          <a:solidFill>
            <a:schemeClr val="accent2"/>
          </a:solidFill>
          <a:ln w="12700">
            <a:solidFill>
              <a:schemeClr val="accent2"/>
            </a:solidFill>
            <a:prstDash val="solid"/>
          </a:ln>
        </p:spPr>
      </p:sp>
      <p:pic>
        <p:nvPicPr>
          <p:cNvPr id="5" name="icon-FaUpload"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6" name="Text 3"/>
          <p:cNvSpPr txBox="1"/>
          <p:nvPr/>
        </p:nvSpPr>
        <p:spPr>
          <a:xfrm>
            <a:off x="822960" y="2743200"/>
            <a:ext cx="3017520" cy="457200"/>
          </a:xfrm>
          <a:prstGeom prst="rect">
            <a:avLst/>
          </a:prstGeom>
          <a:noFill/>
          <a:ln/>
        </p:spPr>
        <p:txBody>
          <a:bodyPr wrap="square" lIns="0" tIns="0" rIns="0" bIns="0" rtlCol="0" anchor="t"/>
          <a:lstStyle/>
          <a:p>
            <a:pPr indent="0" marL="0">
              <a:buNone/>
            </a:pPr>
            <a:r>
              <a:rPr lang="en-US" sz="2200" b="1" dirty="0">
                <a:solidFill>
                  <a:schemeClr val="tx1"/>
                </a:solidFill>
              </a:rPr>
              <a:t>1. Upload</a:t>
            </a:r>
            <a:endParaRPr lang="en-US" sz="2200" dirty="0"/>
          </a:p>
        </p:txBody>
      </p:sp>
      <p:sp>
        <p:nvSpPr>
          <p:cNvPr id="7" name="Text 4"/>
          <p:cNvSpPr txBox="1"/>
          <p:nvPr/>
        </p:nvSpPr>
        <p:spPr>
          <a:xfrm>
            <a:off x="822960" y="3246120"/>
            <a:ext cx="3017520" cy="914400"/>
          </a:xfrm>
          <a:prstGeom prst="rect">
            <a:avLst/>
          </a:prstGeom>
          <a:noFill/>
          <a:ln/>
        </p:spPr>
        <p:txBody>
          <a:bodyPr wrap="square" lIns="0" tIns="0" rIns="0" bIns="0" rtlCol="0" anchor="t"/>
          <a:lstStyle/>
          <a:p>
            <a:pPr indent="0" marL="0">
              <a:buNone/>
            </a:pPr>
            <a:r>
              <a:rPr lang="en-US" sz="1600" dirty="0">
                <a:solidFill>
                  <a:schemeClr val="tx2"/>
                </a:solidFill>
              </a:rPr>
              <a:t>Drop any CSV file. The app checks it and describes it automatically.</a:t>
            </a:r>
            <a:endParaRPr lang="en-US" sz="1600" dirty="0"/>
          </a:p>
        </p:txBody>
      </p:sp>
      <p:sp>
        <p:nvSpPr>
          <p:cNvPr id="8" name="step-card-1"/>
          <p:cNvSpPr/>
          <p:nvPr/>
        </p:nvSpPr>
        <p:spPr>
          <a:xfrm>
            <a:off x="4297680" y="1463040"/>
            <a:ext cx="3566160" cy="2743200"/>
          </a:xfrm>
          <a:prstGeom prst="roundRect">
            <a:avLst>
              <a:gd name="adj" fmla="val 4000"/>
            </a:avLst>
          </a:prstGeom>
          <a:solidFill>
            <a:schemeClr val="bg1"/>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9" name="icon-bg-FaComments"/>
          <p:cNvSpPr/>
          <p:nvPr/>
        </p:nvSpPr>
        <p:spPr>
          <a:xfrm>
            <a:off x="4572000" y="1737360"/>
            <a:ext cx="822960" cy="822960"/>
          </a:xfrm>
          <a:prstGeom prst="ellipse">
            <a:avLst/>
          </a:prstGeom>
          <a:solidFill>
            <a:schemeClr val="accent5"/>
          </a:solidFill>
          <a:ln w="12700">
            <a:solidFill>
              <a:schemeClr val="accent5"/>
            </a:solidFill>
            <a:prstDash val="solid"/>
          </a:ln>
        </p:spPr>
      </p:sp>
      <p:pic>
        <p:nvPicPr>
          <p:cNvPr id="10" name="icon-FaComments" descr="preencoded.png">    </p:cNvPr>
          <p:cNvPicPr>
            <a:picLocks noChangeAspect="1"/>
          </p:cNvPicPr>
          <p:nvPr/>
        </p:nvPicPr>
        <p:blipFill>
          <a:blip r:embed="rId2"/>
          <a:stretch>
            <a:fillRect/>
          </a:stretch>
        </p:blipFill>
        <p:spPr>
          <a:xfrm>
            <a:off x="4777740" y="1943100"/>
            <a:ext cx="411480" cy="411480"/>
          </a:xfrm>
          <a:prstGeom prst="rect">
            <a:avLst/>
          </a:prstGeom>
        </p:spPr>
      </p:pic>
      <p:sp>
        <p:nvSpPr>
          <p:cNvPr id="11" name="Text 7"/>
          <p:cNvSpPr txBox="1"/>
          <p:nvPr/>
        </p:nvSpPr>
        <p:spPr>
          <a:xfrm>
            <a:off x="4572000" y="2743200"/>
            <a:ext cx="3017520" cy="457200"/>
          </a:xfrm>
          <a:prstGeom prst="rect">
            <a:avLst/>
          </a:prstGeom>
          <a:noFill/>
          <a:ln/>
        </p:spPr>
        <p:txBody>
          <a:bodyPr wrap="square" lIns="0" tIns="0" rIns="0" bIns="0" rtlCol="0" anchor="t"/>
          <a:lstStyle/>
          <a:p>
            <a:pPr indent="0" marL="0">
              <a:buNone/>
            </a:pPr>
            <a:r>
              <a:rPr lang="en-US" sz="2200" b="1" dirty="0">
                <a:solidFill>
                  <a:schemeClr val="tx1"/>
                </a:solidFill>
              </a:rPr>
              <a:t>2. Ask</a:t>
            </a:r>
            <a:endParaRPr lang="en-US" sz="2200" dirty="0"/>
          </a:p>
        </p:txBody>
      </p:sp>
      <p:sp>
        <p:nvSpPr>
          <p:cNvPr id="12" name="Text 8"/>
          <p:cNvSpPr txBox="1"/>
          <p:nvPr/>
        </p:nvSpPr>
        <p:spPr>
          <a:xfrm>
            <a:off x="4572000" y="3246120"/>
            <a:ext cx="3017520" cy="914400"/>
          </a:xfrm>
          <a:prstGeom prst="rect">
            <a:avLst/>
          </a:prstGeom>
          <a:noFill/>
          <a:ln/>
        </p:spPr>
        <p:txBody>
          <a:bodyPr wrap="square" lIns="0" tIns="0" rIns="0" bIns="0" rtlCol="0" anchor="t"/>
          <a:lstStyle/>
          <a:p>
            <a:pPr indent="0" marL="0">
              <a:buNone/>
            </a:pPr>
            <a:r>
              <a:rPr lang="en-US" sz="1600" dirty="0">
                <a:solidFill>
                  <a:schemeClr val="tx2"/>
                </a:solidFill>
              </a:rPr>
              <a:t>Type a question in plain English, like you would ask a person.</a:t>
            </a:r>
            <a:endParaRPr lang="en-US" sz="1600" dirty="0"/>
          </a:p>
        </p:txBody>
      </p:sp>
      <p:sp>
        <p:nvSpPr>
          <p:cNvPr id="13" name="step-card-2"/>
          <p:cNvSpPr/>
          <p:nvPr/>
        </p:nvSpPr>
        <p:spPr>
          <a:xfrm>
            <a:off x="8046720" y="1463040"/>
            <a:ext cx="3566160" cy="2743200"/>
          </a:xfrm>
          <a:prstGeom prst="roundRect">
            <a:avLst>
              <a:gd name="adj" fmla="val 4000"/>
            </a:avLst>
          </a:prstGeom>
          <a:solidFill>
            <a:schemeClr val="bg1"/>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14" name="icon-bg-FaChartBar"/>
          <p:cNvSpPr/>
          <p:nvPr/>
        </p:nvSpPr>
        <p:spPr>
          <a:xfrm>
            <a:off x="8321040" y="1737360"/>
            <a:ext cx="822960" cy="822960"/>
          </a:xfrm>
          <a:prstGeom prst="ellipse">
            <a:avLst/>
          </a:prstGeom>
          <a:solidFill>
            <a:schemeClr val="accent1"/>
          </a:solidFill>
          <a:ln w="12700">
            <a:solidFill>
              <a:schemeClr val="accent1"/>
            </a:solidFill>
            <a:prstDash val="solid"/>
          </a:ln>
        </p:spPr>
      </p:sp>
      <p:pic>
        <p:nvPicPr>
          <p:cNvPr id="15" name="icon-FaChartBar" descr="preencoded.png">    </p:cNvPr>
          <p:cNvPicPr>
            <a:picLocks noChangeAspect="1"/>
          </p:cNvPicPr>
          <p:nvPr/>
        </p:nvPicPr>
        <p:blipFill>
          <a:blip r:embed="rId3"/>
          <a:stretch>
            <a:fillRect/>
          </a:stretch>
        </p:blipFill>
        <p:spPr>
          <a:xfrm>
            <a:off x="8526780" y="1943100"/>
            <a:ext cx="411480" cy="411480"/>
          </a:xfrm>
          <a:prstGeom prst="rect">
            <a:avLst/>
          </a:prstGeom>
        </p:spPr>
      </p:pic>
      <p:sp>
        <p:nvSpPr>
          <p:cNvPr id="16" name="Text 11"/>
          <p:cNvSpPr txBox="1"/>
          <p:nvPr/>
        </p:nvSpPr>
        <p:spPr>
          <a:xfrm>
            <a:off x="8321040" y="2743200"/>
            <a:ext cx="3017520" cy="457200"/>
          </a:xfrm>
          <a:prstGeom prst="rect">
            <a:avLst/>
          </a:prstGeom>
          <a:noFill/>
          <a:ln/>
        </p:spPr>
        <p:txBody>
          <a:bodyPr wrap="square" lIns="0" tIns="0" rIns="0" bIns="0" rtlCol="0" anchor="t"/>
          <a:lstStyle/>
          <a:p>
            <a:pPr indent="0" marL="0">
              <a:buNone/>
            </a:pPr>
            <a:r>
              <a:rPr lang="en-US" sz="2200" b="1" dirty="0">
                <a:solidFill>
                  <a:schemeClr val="tx1"/>
                </a:solidFill>
              </a:rPr>
              <a:t>3. Get the answer</a:t>
            </a:r>
            <a:endParaRPr lang="en-US" sz="2200" dirty="0"/>
          </a:p>
        </p:txBody>
      </p:sp>
      <p:sp>
        <p:nvSpPr>
          <p:cNvPr id="17" name="Text 12"/>
          <p:cNvSpPr txBox="1"/>
          <p:nvPr/>
        </p:nvSpPr>
        <p:spPr>
          <a:xfrm>
            <a:off x="8321040" y="3246120"/>
            <a:ext cx="3017520" cy="914400"/>
          </a:xfrm>
          <a:prstGeom prst="rect">
            <a:avLst/>
          </a:prstGeom>
          <a:noFill/>
          <a:ln/>
        </p:spPr>
        <p:txBody>
          <a:bodyPr wrap="square" lIns="0" tIns="0" rIns="0" bIns="0" rtlCol="0" anchor="t"/>
          <a:lstStyle/>
          <a:p>
            <a:pPr indent="0" marL="0">
              <a:buNone/>
            </a:pPr>
            <a:r>
              <a:rPr lang="en-US" sz="1600" dirty="0">
                <a:solidFill>
                  <a:schemeClr val="tx2"/>
                </a:solidFill>
              </a:rPr>
              <a:t>You get a number, a table or a chart, and a note on how it was worked out.</a:t>
            </a:r>
            <a:endParaRPr lang="en-US" sz="1600" dirty="0"/>
          </a:p>
        </p:txBody>
      </p:sp>
      <p:sp>
        <p:nvSpPr>
          <p:cNvPr id="18" name="example-box"/>
          <p:cNvSpPr/>
          <p:nvPr/>
        </p:nvSpPr>
        <p:spPr>
          <a:xfrm>
            <a:off x="548640" y="4526280"/>
            <a:ext cx="11064240" cy="1417320"/>
          </a:xfrm>
          <a:prstGeom prst="roundRect">
            <a:avLst>
              <a:gd name="adj" fmla="val 7742"/>
            </a:avLst>
          </a:prstGeom>
          <a:solidFill>
            <a:schemeClr val="bg2"/>
          </a:solidFill>
          <a:ln w="9525">
            <a:solidFill>
              <a:schemeClr val="bg2"/>
            </a:solidFill>
            <a:prstDash val="solid"/>
          </a:ln>
        </p:spPr>
      </p:sp>
      <p:sp>
        <p:nvSpPr>
          <p:cNvPr id="19" name="Text 14"/>
          <p:cNvSpPr txBox="1"/>
          <p:nvPr/>
        </p:nvSpPr>
        <p:spPr>
          <a:xfrm>
            <a:off x="822960" y="4663440"/>
            <a:ext cx="2743200" cy="320040"/>
          </a:xfrm>
          <a:prstGeom prst="rect">
            <a:avLst/>
          </a:prstGeom>
          <a:noFill/>
          <a:ln/>
        </p:spPr>
        <p:txBody>
          <a:bodyPr wrap="square" lIns="0" tIns="0" rIns="0" bIns="0" rtlCol="0" anchor="t"/>
          <a:lstStyle/>
          <a:p>
            <a:pPr indent="0" marL="0">
              <a:buNone/>
            </a:pPr>
            <a:r>
              <a:rPr lang="en-US" sz="1300" b="1" dirty="0">
                <a:solidFill>
                  <a:schemeClr val="accent6"/>
                </a:solidFill>
              </a:rPr>
              <a:t>Example</a:t>
            </a:r>
            <a:endParaRPr lang="en-US" sz="1300" dirty="0"/>
          </a:p>
        </p:txBody>
      </p:sp>
      <p:sp>
        <p:nvSpPr>
          <p:cNvPr id="20" name="Text 15"/>
          <p:cNvSpPr txBox="1"/>
          <p:nvPr/>
        </p:nvSpPr>
        <p:spPr>
          <a:xfrm>
            <a:off x="822960" y="4983480"/>
            <a:ext cx="10515600" cy="868680"/>
          </a:xfrm>
          <a:prstGeom prst="rect">
            <a:avLst/>
          </a:prstGeom>
          <a:noFill/>
          <a:ln/>
        </p:spPr>
        <p:txBody>
          <a:bodyPr wrap="square" lIns="0" tIns="0" rIns="0" bIns="0" rtlCol="0" anchor="t"/>
          <a:lstStyle/>
          <a:p>
            <a:pPr indent="0" marL="0">
              <a:buNone/>
            </a:pPr>
            <a:r>
              <a:rPr lang="en-US" sz="1800" b="1" dirty="0">
                <a:solidFill>
                  <a:schemeClr val="tx1"/>
                </a:solidFill>
              </a:rPr>
              <a:t>You ask:  </a:t>
            </a:r>
            <a:pPr indent="0" marL="0">
              <a:buNone/>
            </a:pPr>
            <a:r>
              <a:rPr lang="en-US" sz="1800" i="1" dirty="0">
                <a:solidFill>
                  <a:schemeClr val="tx1"/>
                </a:solidFill>
              </a:rPr>
              <a:t>“Which department has the highest average marks?”</a:t>
            </a:r>
            <a:endParaRPr lang="en-US" sz="1800" dirty="0"/>
          </a:p>
          <a:p>
            <a:pPr indent="0" marL="0">
              <a:buNone/>
            </a:pPr>
            <a:r>
              <a:rPr lang="en-US" sz="1800" b="1" dirty="0">
                <a:solidFill>
                  <a:schemeClr val="tx1"/>
                </a:solidFill>
              </a:rPr>
              <a:t>App answers:  </a:t>
            </a:r>
            <a:pPr indent="0" marL="0">
              <a:buNone/>
            </a:pPr>
            <a:r>
              <a:rPr lang="en-US" sz="1800" i="1" dirty="0">
                <a:solidFill>
                  <a:schemeClr val="tx1"/>
                </a:solidFill>
              </a:rPr>
              <a:t>“CSE has the highest average marks at 90.15.”  (plus a table and a bar chart)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Where the AI fits in, and where it does not</a:t>
            </a:r>
            <a:endParaRPr lang="en-US" sz="3400" dirty="0"/>
          </a:p>
        </p:txBody>
      </p:sp>
      <p:sp>
        <p:nvSpPr>
          <p:cNvPr id="3" name="flow-0"/>
          <p:cNvSpPr/>
          <p:nvPr/>
        </p:nvSpPr>
        <p:spPr>
          <a:xfrm>
            <a:off x="548640" y="1737360"/>
            <a:ext cx="2011680" cy="1371600"/>
          </a:xfrm>
          <a:prstGeom prst="roundRect">
            <a:avLst>
              <a:gd name="adj" fmla="val 8000"/>
            </a:avLst>
          </a:prstGeom>
          <a:solidFill>
            <a:srgbClr val="334155"/>
          </a:solidFill>
          <a:ln w="12700">
            <a:solidFill>
              <a:srgbClr val="334155"/>
            </a:solidFill>
            <a:prstDash val="solid"/>
          </a:ln>
        </p:spPr>
      </p:sp>
      <p:sp>
        <p:nvSpPr>
          <p:cNvPr id="4" name="Text 2"/>
          <p:cNvSpPr txBox="1"/>
          <p:nvPr/>
        </p:nvSpPr>
        <p:spPr>
          <a:xfrm>
            <a:off x="685800" y="1828800"/>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You ask</a:t>
            </a:r>
            <a:endParaRPr lang="en-US" sz="1700" dirty="0"/>
          </a:p>
        </p:txBody>
      </p:sp>
      <p:sp>
        <p:nvSpPr>
          <p:cNvPr id="5" name="Text 3"/>
          <p:cNvSpPr txBox="1"/>
          <p:nvPr/>
        </p:nvSpPr>
        <p:spPr>
          <a:xfrm>
            <a:off x="685800" y="2331720"/>
            <a:ext cx="1737360" cy="731520"/>
          </a:xfrm>
          <a:prstGeom prst="rect">
            <a:avLst/>
          </a:prstGeom>
          <a:noFill/>
          <a:ln/>
        </p:spPr>
        <p:txBody>
          <a:bodyPr wrap="square" lIns="0" tIns="0" rIns="0" bIns="0" rtlCol="0" anchor="t"/>
          <a:lstStyle/>
          <a:p>
            <a:pPr algn="ctr" indent="0" marL="0">
              <a:buNone/>
            </a:pPr>
            <a:r>
              <a:rPr lang="en-US" sz="1300" dirty="0">
                <a:solidFill>
                  <a:schemeClr val="bg2"/>
                </a:solidFill>
              </a:rPr>
              <a:t>A question in English</a:t>
            </a:r>
            <a:endParaRPr lang="en-US" sz="1300" dirty="0"/>
          </a:p>
        </p:txBody>
      </p:sp>
      <p:sp>
        <p:nvSpPr>
          <p:cNvPr id="6" name="arrow-0"/>
          <p:cNvSpPr txBox="1"/>
          <p:nvPr/>
        </p:nvSpPr>
        <p:spPr>
          <a:xfrm>
            <a:off x="2560320" y="2011680"/>
            <a:ext cx="228600"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sp>
        <p:nvSpPr>
          <p:cNvPr id="7" name="flow-1"/>
          <p:cNvSpPr/>
          <p:nvPr/>
        </p:nvSpPr>
        <p:spPr>
          <a:xfrm>
            <a:off x="2788920" y="1737360"/>
            <a:ext cx="2011680" cy="1371600"/>
          </a:xfrm>
          <a:prstGeom prst="roundRect">
            <a:avLst>
              <a:gd name="adj" fmla="val 8000"/>
            </a:avLst>
          </a:prstGeom>
          <a:solidFill>
            <a:srgbClr val="6366F1"/>
          </a:solidFill>
          <a:ln w="12700">
            <a:solidFill>
              <a:srgbClr val="6366F1"/>
            </a:solidFill>
            <a:prstDash val="solid"/>
          </a:ln>
        </p:spPr>
      </p:sp>
      <p:sp>
        <p:nvSpPr>
          <p:cNvPr id="8" name="Text 6"/>
          <p:cNvSpPr txBox="1"/>
          <p:nvPr/>
        </p:nvSpPr>
        <p:spPr>
          <a:xfrm>
            <a:off x="2926080" y="1828800"/>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AI writes a plan</a:t>
            </a:r>
            <a:endParaRPr lang="en-US" sz="1700" dirty="0"/>
          </a:p>
        </p:txBody>
      </p:sp>
      <p:sp>
        <p:nvSpPr>
          <p:cNvPr id="9" name="Text 7"/>
          <p:cNvSpPr txBox="1"/>
          <p:nvPr/>
        </p:nvSpPr>
        <p:spPr>
          <a:xfrm>
            <a:off x="2926080" y="2331720"/>
            <a:ext cx="1737360" cy="731520"/>
          </a:xfrm>
          <a:prstGeom prst="rect">
            <a:avLst/>
          </a:prstGeom>
          <a:noFill/>
          <a:ln/>
        </p:spPr>
        <p:txBody>
          <a:bodyPr wrap="square" lIns="0" tIns="0" rIns="0" bIns="0" rtlCol="0" anchor="t"/>
          <a:lstStyle/>
          <a:p>
            <a:pPr algn="ctr" indent="0" marL="0">
              <a:buNone/>
            </a:pPr>
            <a:r>
              <a:rPr lang="en-US" sz="1300" dirty="0">
                <a:solidFill>
                  <a:schemeClr val="bg2"/>
                </a:solidFill>
              </a:rPr>
              <a:t>A small list of steps (JSON), not code</a:t>
            </a:r>
            <a:endParaRPr lang="en-US" sz="1300" dirty="0"/>
          </a:p>
        </p:txBody>
      </p:sp>
      <p:sp>
        <p:nvSpPr>
          <p:cNvPr id="10" name="arrow-1"/>
          <p:cNvSpPr txBox="1"/>
          <p:nvPr/>
        </p:nvSpPr>
        <p:spPr>
          <a:xfrm>
            <a:off x="4800600" y="2011680"/>
            <a:ext cx="228600"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sp>
        <p:nvSpPr>
          <p:cNvPr id="11" name="flow-2"/>
          <p:cNvSpPr/>
          <p:nvPr/>
        </p:nvSpPr>
        <p:spPr>
          <a:xfrm>
            <a:off x="5029200" y="1737360"/>
            <a:ext cx="2011680" cy="1371600"/>
          </a:xfrm>
          <a:prstGeom prst="roundRect">
            <a:avLst>
              <a:gd name="adj" fmla="val 8000"/>
            </a:avLst>
          </a:prstGeom>
          <a:solidFill>
            <a:srgbClr val="334155"/>
          </a:solidFill>
          <a:ln w="12700">
            <a:solidFill>
              <a:srgbClr val="334155"/>
            </a:solidFill>
            <a:prstDash val="solid"/>
          </a:ln>
        </p:spPr>
      </p:sp>
      <p:sp>
        <p:nvSpPr>
          <p:cNvPr id="12" name="Text 10"/>
          <p:cNvSpPr txBox="1"/>
          <p:nvPr/>
        </p:nvSpPr>
        <p:spPr>
          <a:xfrm>
            <a:off x="5166360" y="1828800"/>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Checker validates</a:t>
            </a:r>
            <a:endParaRPr lang="en-US" sz="1700" dirty="0"/>
          </a:p>
        </p:txBody>
      </p:sp>
      <p:sp>
        <p:nvSpPr>
          <p:cNvPr id="13" name="Text 11"/>
          <p:cNvSpPr txBox="1"/>
          <p:nvPr/>
        </p:nvSpPr>
        <p:spPr>
          <a:xfrm>
            <a:off x="5166360" y="2331720"/>
            <a:ext cx="1737360" cy="731520"/>
          </a:xfrm>
          <a:prstGeom prst="rect">
            <a:avLst/>
          </a:prstGeom>
          <a:noFill/>
          <a:ln/>
        </p:spPr>
        <p:txBody>
          <a:bodyPr wrap="square" lIns="0" tIns="0" rIns="0" bIns="0" rtlCol="0" anchor="t"/>
          <a:lstStyle/>
          <a:p>
            <a:pPr algn="ctr" indent="0" marL="0">
              <a:buNone/>
            </a:pPr>
            <a:r>
              <a:rPr lang="en-US" sz="1300" dirty="0">
                <a:solidFill>
                  <a:schemeClr val="bg2"/>
                </a:solidFill>
              </a:rPr>
              <a:t>Real columns? Right data types? Safe?</a:t>
            </a:r>
            <a:endParaRPr lang="en-US" sz="1300" dirty="0"/>
          </a:p>
        </p:txBody>
      </p:sp>
      <p:sp>
        <p:nvSpPr>
          <p:cNvPr id="14" name="arrow-2"/>
          <p:cNvSpPr txBox="1"/>
          <p:nvPr/>
        </p:nvSpPr>
        <p:spPr>
          <a:xfrm>
            <a:off x="7040880" y="2011680"/>
            <a:ext cx="228600"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sp>
        <p:nvSpPr>
          <p:cNvPr id="15" name="flow-3"/>
          <p:cNvSpPr/>
          <p:nvPr/>
        </p:nvSpPr>
        <p:spPr>
          <a:xfrm>
            <a:off x="7269480" y="1737360"/>
            <a:ext cx="2011680" cy="1371600"/>
          </a:xfrm>
          <a:prstGeom prst="roundRect">
            <a:avLst>
              <a:gd name="adj" fmla="val 8000"/>
            </a:avLst>
          </a:prstGeom>
          <a:solidFill>
            <a:srgbClr val="334155"/>
          </a:solidFill>
          <a:ln w="12700">
            <a:solidFill>
              <a:srgbClr val="334155"/>
            </a:solidFill>
            <a:prstDash val="solid"/>
          </a:ln>
        </p:spPr>
      </p:sp>
      <p:sp>
        <p:nvSpPr>
          <p:cNvPr id="16" name="Text 14"/>
          <p:cNvSpPr txBox="1"/>
          <p:nvPr/>
        </p:nvSpPr>
        <p:spPr>
          <a:xfrm>
            <a:off x="7406640" y="1828800"/>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pandas runs it</a:t>
            </a:r>
            <a:endParaRPr lang="en-US" sz="1700" dirty="0"/>
          </a:p>
        </p:txBody>
      </p:sp>
      <p:sp>
        <p:nvSpPr>
          <p:cNvPr id="17" name="Text 15"/>
          <p:cNvSpPr txBox="1"/>
          <p:nvPr/>
        </p:nvSpPr>
        <p:spPr>
          <a:xfrm>
            <a:off x="7406640" y="2331720"/>
            <a:ext cx="1737360" cy="731520"/>
          </a:xfrm>
          <a:prstGeom prst="rect">
            <a:avLst/>
          </a:prstGeom>
          <a:noFill/>
          <a:ln/>
        </p:spPr>
        <p:txBody>
          <a:bodyPr wrap="square" lIns="0" tIns="0" rIns="0" bIns="0" rtlCol="0" anchor="t"/>
          <a:lstStyle/>
          <a:p>
            <a:pPr algn="ctr" indent="0" marL="0">
              <a:buNone/>
            </a:pPr>
            <a:r>
              <a:rPr lang="en-US" sz="1300" dirty="0">
                <a:solidFill>
                  <a:schemeClr val="bg2"/>
                </a:solidFill>
              </a:rPr>
              <a:t>Fixed, pre-approved operations only</a:t>
            </a:r>
            <a:endParaRPr lang="en-US" sz="1300" dirty="0"/>
          </a:p>
        </p:txBody>
      </p:sp>
      <p:sp>
        <p:nvSpPr>
          <p:cNvPr id="18" name="arrow-3"/>
          <p:cNvSpPr txBox="1"/>
          <p:nvPr/>
        </p:nvSpPr>
        <p:spPr>
          <a:xfrm>
            <a:off x="9281160" y="2011680"/>
            <a:ext cx="228600"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sp>
        <p:nvSpPr>
          <p:cNvPr id="19" name="flow-4"/>
          <p:cNvSpPr/>
          <p:nvPr/>
        </p:nvSpPr>
        <p:spPr>
          <a:xfrm>
            <a:off x="9509760" y="1737360"/>
            <a:ext cx="2011680" cy="1371600"/>
          </a:xfrm>
          <a:prstGeom prst="roundRect">
            <a:avLst>
              <a:gd name="adj" fmla="val 8000"/>
            </a:avLst>
          </a:prstGeom>
          <a:solidFill>
            <a:srgbClr val="334155"/>
          </a:solidFill>
          <a:ln w="12700">
            <a:solidFill>
              <a:srgbClr val="334155"/>
            </a:solidFill>
            <a:prstDash val="solid"/>
          </a:ln>
        </p:spPr>
      </p:sp>
      <p:sp>
        <p:nvSpPr>
          <p:cNvPr id="20" name="Text 18"/>
          <p:cNvSpPr txBox="1"/>
          <p:nvPr/>
        </p:nvSpPr>
        <p:spPr>
          <a:xfrm>
            <a:off x="9646920" y="1828800"/>
            <a:ext cx="1737360" cy="502920"/>
          </a:xfrm>
          <a:prstGeom prst="rect">
            <a:avLst/>
          </a:prstGeom>
          <a:noFill/>
          <a:ln/>
        </p:spPr>
        <p:txBody>
          <a:bodyPr wrap="square" lIns="0" tIns="0" rIns="0" bIns="0" rtlCol="0" anchor="ctr"/>
          <a:lstStyle/>
          <a:p>
            <a:pPr algn="ctr" indent="0" marL="0">
              <a:buNone/>
            </a:pPr>
            <a:r>
              <a:rPr lang="en-US" sz="1700" b="1" dirty="0">
                <a:solidFill>
                  <a:schemeClr val="bg1"/>
                </a:solidFill>
              </a:rPr>
              <a:t>You get the answer</a:t>
            </a:r>
            <a:endParaRPr lang="en-US" sz="1700" dirty="0"/>
          </a:p>
        </p:txBody>
      </p:sp>
      <p:sp>
        <p:nvSpPr>
          <p:cNvPr id="21" name="Text 19"/>
          <p:cNvSpPr txBox="1"/>
          <p:nvPr/>
        </p:nvSpPr>
        <p:spPr>
          <a:xfrm>
            <a:off x="9646920" y="2331720"/>
            <a:ext cx="1737360" cy="731520"/>
          </a:xfrm>
          <a:prstGeom prst="rect">
            <a:avLst/>
          </a:prstGeom>
          <a:noFill/>
          <a:ln/>
        </p:spPr>
        <p:txBody>
          <a:bodyPr wrap="square" lIns="0" tIns="0" rIns="0" bIns="0" rtlCol="0" anchor="t"/>
          <a:lstStyle/>
          <a:p>
            <a:pPr algn="ctr" indent="0" marL="0">
              <a:buNone/>
            </a:pPr>
            <a:r>
              <a:rPr lang="en-US" sz="1300" dirty="0">
                <a:solidFill>
                  <a:schemeClr val="bg2"/>
                </a:solidFill>
              </a:rPr>
              <a:t>Text, table or chart</a:t>
            </a:r>
            <a:endParaRPr lang="en-US" sz="1300" dirty="0"/>
          </a:p>
        </p:txBody>
      </p:sp>
      <p:sp>
        <p:nvSpPr>
          <p:cNvPr id="22" name="Text 20"/>
          <p:cNvSpPr txBox="1"/>
          <p:nvPr/>
        </p:nvSpPr>
        <p:spPr>
          <a:xfrm>
            <a:off x="2788920" y="1371600"/>
            <a:ext cx="2011680" cy="274320"/>
          </a:xfrm>
          <a:prstGeom prst="rect">
            <a:avLst/>
          </a:prstGeom>
          <a:noFill/>
          <a:ln/>
        </p:spPr>
        <p:txBody>
          <a:bodyPr wrap="square" lIns="0" tIns="0" rIns="0" bIns="0" rtlCol="0" anchor="t"/>
          <a:lstStyle/>
          <a:p>
            <a:pPr algn="ctr" indent="0" marL="0">
              <a:buNone/>
            </a:pPr>
            <a:r>
              <a:rPr lang="en-US" sz="1300" b="1" dirty="0">
                <a:solidFill>
                  <a:schemeClr val="accent2"/>
                </a:solidFill>
              </a:rPr>
              <a:t>AI part</a:t>
            </a:r>
            <a:endParaRPr lang="en-US" sz="1300" dirty="0"/>
          </a:p>
        </p:txBody>
      </p:sp>
      <p:sp>
        <p:nvSpPr>
          <p:cNvPr id="23" name="safety-callout"/>
          <p:cNvSpPr/>
          <p:nvPr/>
        </p:nvSpPr>
        <p:spPr>
          <a:xfrm>
            <a:off x="548640" y="3566160"/>
            <a:ext cx="11064240" cy="1234440"/>
          </a:xfrm>
          <a:prstGeom prst="roundRect">
            <a:avLst>
              <a:gd name="adj" fmla="val 8889"/>
            </a:avLst>
          </a:prstGeom>
          <a:solidFill>
            <a:schemeClr val="tx1"/>
          </a:solidFill>
          <a:ln w="9525">
            <a:solidFill>
              <a:schemeClr val="tx1"/>
            </a:solidFill>
            <a:prstDash val="solid"/>
          </a:ln>
        </p:spPr>
      </p:sp>
      <p:sp>
        <p:nvSpPr>
          <p:cNvPr id="24" name="Text 22"/>
          <p:cNvSpPr txBox="1"/>
          <p:nvPr/>
        </p:nvSpPr>
        <p:spPr>
          <a:xfrm>
            <a:off x="868680" y="3703320"/>
            <a:ext cx="10424160" cy="502920"/>
          </a:xfrm>
          <a:prstGeom prst="rect">
            <a:avLst/>
          </a:prstGeom>
          <a:noFill/>
          <a:ln/>
        </p:spPr>
        <p:txBody>
          <a:bodyPr wrap="square" lIns="0" tIns="0" rIns="0" bIns="0" rtlCol="0" anchor="ctr"/>
          <a:lstStyle/>
          <a:p>
            <a:pPr indent="0" marL="0">
              <a:buNone/>
            </a:pPr>
            <a:r>
              <a:rPr lang="en-US" sz="2600" b="1" dirty="0">
                <a:solidFill>
                  <a:schemeClr val="bg1"/>
                </a:solidFill>
              </a:rPr>
              <a:t>The AI never writes or runs code.</a:t>
            </a:r>
            <a:endParaRPr lang="en-US" sz="2600" dirty="0"/>
          </a:p>
        </p:txBody>
      </p:sp>
      <p:sp>
        <p:nvSpPr>
          <p:cNvPr id="25" name="Text 23"/>
          <p:cNvSpPr txBox="1"/>
          <p:nvPr/>
        </p:nvSpPr>
        <p:spPr>
          <a:xfrm>
            <a:off x="868680" y="4206240"/>
            <a:ext cx="10424160" cy="548640"/>
          </a:xfrm>
          <a:prstGeom prst="rect">
            <a:avLst/>
          </a:prstGeom>
          <a:noFill/>
          <a:ln/>
        </p:spPr>
        <p:txBody>
          <a:bodyPr wrap="square" lIns="0" tIns="0" rIns="0" bIns="0" rtlCol="0" anchor="t"/>
          <a:lstStyle/>
          <a:p>
            <a:pPr indent="0" marL="0">
              <a:buNone/>
            </a:pPr>
            <a:r>
              <a:rPr lang="en-US" sz="1600" dirty="0">
                <a:solidFill>
                  <a:schemeClr val="bg2"/>
                </a:solidFill>
              </a:rPr>
              <a:t>It only fills in a form. Everything it says is checked before anything runs, so a wrong or bad answer from the AI cannot harm your data.</a:t>
            </a:r>
            <a:endParaRPr lang="en-US" sz="1600" dirty="0"/>
          </a:p>
        </p:txBody>
      </p:sp>
      <p:sp>
        <p:nvSpPr>
          <p:cNvPr id="26" name="Text 24"/>
          <p:cNvSpPr txBox="1"/>
          <p:nvPr/>
        </p:nvSpPr>
        <p:spPr>
          <a:xfrm>
            <a:off x="548640" y="5120640"/>
            <a:ext cx="11064240" cy="914400"/>
          </a:xfrm>
          <a:prstGeom prst="rect">
            <a:avLst/>
          </a:prstGeom>
          <a:noFill/>
          <a:ln/>
        </p:spPr>
        <p:txBody>
          <a:bodyPr wrap="square" lIns="0" tIns="0" rIns="0" bIns="0" rtlCol="0" anchor="t"/>
          <a:lstStyle/>
          <a:p>
            <a:pPr indent="0" marL="0">
              <a:buNone/>
            </a:pPr>
            <a:r>
              <a:rPr lang="en-US" sz="1600" b="1" dirty="0">
                <a:solidFill>
                  <a:schemeClr val="tx1"/>
                </a:solidFill>
              </a:rPr>
              <a:t>Why this design?  </a:t>
            </a:r>
            <a:pPr indent="0" marL="0">
              <a:buNone/>
            </a:pPr>
            <a:r>
              <a:rPr lang="en-US" sz="1600" dirty="0">
                <a:solidFill>
                  <a:schemeClr val="tx2"/>
                </a:solidFill>
              </a:rPr>
              <a:t>Asking an AI to answer straight from a table invites made-up numbers. Here the numbers always come from real calculations on your data, so they cannot be invented.</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AI model we use</a:t>
            </a:r>
            <a:endParaRPr lang="en-US" sz="3400" dirty="0"/>
          </a:p>
        </p:txBody>
      </p:sp>
      <p:sp>
        <p:nvSpPr>
          <p:cNvPr id="3" name="model-card"/>
          <p:cNvSpPr/>
          <p:nvPr/>
        </p:nvSpPr>
        <p:spPr>
          <a:xfrm>
            <a:off x="548640" y="1371600"/>
            <a:ext cx="11064240" cy="1234440"/>
          </a:xfrm>
          <a:prstGeom prst="roundRect">
            <a:avLst>
              <a:gd name="adj" fmla="val 8889"/>
            </a:avLst>
          </a:prstGeom>
          <a:solidFill>
            <a:schemeClr val="tx1"/>
          </a:solidFill>
          <a:ln w="9525">
            <a:solidFill>
              <a:schemeClr val="tx1"/>
            </a:solidFill>
            <a:prstDash val="solid"/>
          </a:ln>
        </p:spPr>
      </p:sp>
      <p:sp>
        <p:nvSpPr>
          <p:cNvPr id="4" name="Text 2"/>
          <p:cNvSpPr txBox="1"/>
          <p:nvPr/>
        </p:nvSpPr>
        <p:spPr>
          <a:xfrm>
            <a:off x="868680" y="1481328"/>
            <a:ext cx="6400800" cy="594360"/>
          </a:xfrm>
          <a:prstGeom prst="rect">
            <a:avLst/>
          </a:prstGeom>
          <a:noFill/>
          <a:ln/>
        </p:spPr>
        <p:txBody>
          <a:bodyPr wrap="square" lIns="0" tIns="0" rIns="0" bIns="0" rtlCol="0" anchor="ctr"/>
          <a:lstStyle/>
          <a:p>
            <a:pPr indent="0" marL="0">
              <a:buNone/>
            </a:pPr>
            <a:r>
              <a:rPr lang="en-US" sz="3200" b="1" dirty="0">
                <a:solidFill>
                  <a:schemeClr val="bg1"/>
                </a:solidFill>
              </a:rPr>
              <a:t>openai/gpt-oss-120b</a:t>
            </a:r>
            <a:endParaRPr lang="en-US" sz="3200" dirty="0"/>
          </a:p>
        </p:txBody>
      </p:sp>
      <p:sp>
        <p:nvSpPr>
          <p:cNvPr id="5" name="Text 3"/>
          <p:cNvSpPr txBox="1"/>
          <p:nvPr/>
        </p:nvSpPr>
        <p:spPr>
          <a:xfrm>
            <a:off x="868680" y="2057400"/>
            <a:ext cx="7772400" cy="411480"/>
          </a:xfrm>
          <a:prstGeom prst="rect">
            <a:avLst/>
          </a:prstGeom>
          <a:noFill/>
          <a:ln/>
        </p:spPr>
        <p:txBody>
          <a:bodyPr wrap="square" lIns="0" tIns="0" rIns="0" bIns="0" rtlCol="0" anchor="t"/>
          <a:lstStyle/>
          <a:p>
            <a:pPr indent="0" marL="0">
              <a:buNone/>
            </a:pPr>
            <a:r>
              <a:rPr lang="en-US" sz="1600" dirty="0">
                <a:solidFill>
                  <a:schemeClr val="bg2"/>
                </a:solidFill>
              </a:rPr>
              <a:t>An open-weight model from OpenAI, served through Groq's fast API</a:t>
            </a:r>
            <a:endParaRPr lang="en-US" sz="1600" dirty="0"/>
          </a:p>
        </p:txBody>
      </p:sp>
      <p:sp>
        <p:nvSpPr>
          <p:cNvPr id="6" name="Text 4"/>
          <p:cNvSpPr txBox="1"/>
          <p:nvPr/>
        </p:nvSpPr>
        <p:spPr>
          <a:xfrm>
            <a:off x="8412480" y="1600200"/>
            <a:ext cx="3017520" cy="822960"/>
          </a:xfrm>
          <a:prstGeom prst="rect">
            <a:avLst/>
          </a:prstGeom>
          <a:noFill/>
          <a:ln/>
        </p:spPr>
        <p:txBody>
          <a:bodyPr wrap="square" lIns="0" tIns="0" rIns="0" bIns="0" rtlCol="0" anchor="ctr"/>
          <a:lstStyle/>
          <a:p>
            <a:pPr algn="r" indent="0" marL="0">
              <a:buNone/>
            </a:pPr>
            <a:r>
              <a:rPr lang="en-US" sz="1400" dirty="0">
                <a:solidFill>
                  <a:schemeClr val="bg2"/>
                </a:solidFill>
              </a:rPr>
              <a:t>Used through the OpenAI-style API</a:t>
            </a:r>
            <a:endParaRPr lang="en-US" sz="1400" dirty="0"/>
          </a:p>
        </p:txBody>
      </p:sp>
      <p:sp>
        <p:nvSpPr>
          <p:cNvPr id="7" name="stat-params"/>
          <p:cNvSpPr/>
          <p:nvPr/>
        </p:nvSpPr>
        <p:spPr>
          <a:xfrm>
            <a:off x="548640" y="2834640"/>
            <a:ext cx="3566160" cy="1737360"/>
          </a:xfrm>
          <a:prstGeom prst="roundRect">
            <a:avLst>
              <a:gd name="adj" fmla="val 6316"/>
            </a:avLst>
          </a:prstGeom>
          <a:solidFill>
            <a:schemeClr val="bg2"/>
          </a:solidFill>
          <a:ln w="9525">
            <a:solidFill>
              <a:schemeClr val="bg2"/>
            </a:solidFill>
            <a:prstDash val="solid"/>
          </a:ln>
        </p:spPr>
      </p:sp>
      <p:sp>
        <p:nvSpPr>
          <p:cNvPr id="8" name="stat-params-value"/>
          <p:cNvSpPr txBox="1"/>
          <p:nvPr/>
        </p:nvSpPr>
        <p:spPr>
          <a:xfrm>
            <a:off x="777240" y="3017520"/>
            <a:ext cx="3108960" cy="868680"/>
          </a:xfrm>
          <a:prstGeom prst="rect">
            <a:avLst/>
          </a:prstGeom>
          <a:noFill/>
          <a:ln/>
        </p:spPr>
        <p:txBody>
          <a:bodyPr wrap="square" lIns="0" tIns="0" rIns="0" bIns="0" rtlCol="0" anchor="ctr"/>
          <a:lstStyle/>
          <a:p>
            <a:pPr indent="0" marL="0">
              <a:buNone/>
            </a:pPr>
            <a:r>
              <a:rPr lang="en-US" sz="3400" b="1" dirty="0">
                <a:solidFill>
                  <a:schemeClr val="accent2"/>
                </a:solidFill>
              </a:rPr>
              <a:t>120 billion</a:t>
            </a:r>
            <a:endParaRPr lang="en-US" sz="3400" dirty="0"/>
          </a:p>
        </p:txBody>
      </p:sp>
      <p:sp>
        <p:nvSpPr>
          <p:cNvPr id="9" name="stat-params-label"/>
          <p:cNvSpPr txBox="1"/>
          <p:nvPr/>
        </p:nvSpPr>
        <p:spPr>
          <a:xfrm>
            <a:off x="777240" y="3790188"/>
            <a:ext cx="3108960" cy="694944"/>
          </a:xfrm>
          <a:prstGeom prst="rect">
            <a:avLst/>
          </a:prstGeom>
          <a:noFill/>
          <a:ln/>
        </p:spPr>
        <p:txBody>
          <a:bodyPr wrap="square" lIns="0" tIns="0" rIns="0" bIns="0" rtlCol="0" anchor="t"/>
          <a:lstStyle/>
          <a:p>
            <a:pPr indent="0" marL="0">
              <a:buNone/>
            </a:pPr>
            <a:r>
              <a:rPr lang="en-US" sz="1400" dirty="0">
                <a:solidFill>
                  <a:schemeClr val="tx2"/>
                </a:solidFill>
              </a:rPr>
              <a:t>parameters. Think of these as the model's learned “memory”. More means more skill, but slower.</a:t>
            </a:r>
            <a:endParaRPr lang="en-US" sz="1400" dirty="0"/>
          </a:p>
        </p:txBody>
      </p:sp>
      <p:sp>
        <p:nvSpPr>
          <p:cNvPr id="10" name="stat-context"/>
          <p:cNvSpPr/>
          <p:nvPr/>
        </p:nvSpPr>
        <p:spPr>
          <a:xfrm>
            <a:off x="4297680" y="2834640"/>
            <a:ext cx="3566160" cy="1737360"/>
          </a:xfrm>
          <a:prstGeom prst="roundRect">
            <a:avLst>
              <a:gd name="adj" fmla="val 6316"/>
            </a:avLst>
          </a:prstGeom>
          <a:solidFill>
            <a:schemeClr val="bg2"/>
          </a:solidFill>
          <a:ln w="9525">
            <a:solidFill>
              <a:schemeClr val="bg2"/>
            </a:solidFill>
            <a:prstDash val="solid"/>
          </a:ln>
        </p:spPr>
      </p:sp>
      <p:sp>
        <p:nvSpPr>
          <p:cNvPr id="11" name="stat-context-value"/>
          <p:cNvSpPr txBox="1"/>
          <p:nvPr/>
        </p:nvSpPr>
        <p:spPr>
          <a:xfrm>
            <a:off x="4526280" y="3017520"/>
            <a:ext cx="3108960" cy="868680"/>
          </a:xfrm>
          <a:prstGeom prst="rect">
            <a:avLst/>
          </a:prstGeom>
          <a:noFill/>
          <a:ln/>
        </p:spPr>
        <p:txBody>
          <a:bodyPr wrap="square" lIns="0" tIns="0" rIns="0" bIns="0" rtlCol="0" anchor="ctr"/>
          <a:lstStyle/>
          <a:p>
            <a:pPr indent="0" marL="0">
              <a:buNone/>
            </a:pPr>
            <a:r>
              <a:rPr lang="en-US" sz="3400" b="1" dirty="0">
                <a:solidFill>
                  <a:schemeClr val="accent1"/>
                </a:solidFill>
              </a:rPr>
              <a:t>131,072</a:t>
            </a:r>
            <a:endParaRPr lang="en-US" sz="3400" dirty="0"/>
          </a:p>
        </p:txBody>
      </p:sp>
      <p:sp>
        <p:nvSpPr>
          <p:cNvPr id="12" name="stat-context-label"/>
          <p:cNvSpPr txBox="1"/>
          <p:nvPr/>
        </p:nvSpPr>
        <p:spPr>
          <a:xfrm>
            <a:off x="4526280" y="3790188"/>
            <a:ext cx="3108960" cy="694944"/>
          </a:xfrm>
          <a:prstGeom prst="rect">
            <a:avLst/>
          </a:prstGeom>
          <a:noFill/>
          <a:ln/>
        </p:spPr>
        <p:txBody>
          <a:bodyPr wrap="square" lIns="0" tIns="0" rIns="0" bIns="0" rtlCol="0" anchor="t"/>
          <a:lstStyle/>
          <a:p>
            <a:pPr indent="0" marL="0">
              <a:buNone/>
            </a:pPr>
            <a:r>
              <a:rPr lang="en-US" sz="1400" dirty="0">
                <a:solidFill>
                  <a:schemeClr val="tx2"/>
                </a:solidFill>
              </a:rPr>
              <a:t>tokens it can read at once (its “context window”).</a:t>
            </a:r>
            <a:endParaRPr lang="en-US" sz="1400" dirty="0"/>
          </a:p>
        </p:txBody>
      </p:sp>
      <p:sp>
        <p:nvSpPr>
          <p:cNvPr id="13" name="stat-output"/>
          <p:cNvSpPr/>
          <p:nvPr/>
        </p:nvSpPr>
        <p:spPr>
          <a:xfrm>
            <a:off x="8046720" y="2834640"/>
            <a:ext cx="3566160" cy="1737360"/>
          </a:xfrm>
          <a:prstGeom prst="roundRect">
            <a:avLst>
              <a:gd name="adj" fmla="val 6316"/>
            </a:avLst>
          </a:prstGeom>
          <a:solidFill>
            <a:schemeClr val="bg2"/>
          </a:solidFill>
          <a:ln w="9525">
            <a:solidFill>
              <a:schemeClr val="bg2"/>
            </a:solidFill>
            <a:prstDash val="solid"/>
          </a:ln>
        </p:spPr>
      </p:sp>
      <p:sp>
        <p:nvSpPr>
          <p:cNvPr id="14" name="stat-output-value"/>
          <p:cNvSpPr txBox="1"/>
          <p:nvPr/>
        </p:nvSpPr>
        <p:spPr>
          <a:xfrm>
            <a:off x="8275320" y="3017520"/>
            <a:ext cx="3108960" cy="868680"/>
          </a:xfrm>
          <a:prstGeom prst="rect">
            <a:avLst/>
          </a:prstGeom>
          <a:noFill/>
          <a:ln/>
        </p:spPr>
        <p:txBody>
          <a:bodyPr wrap="square" lIns="0" tIns="0" rIns="0" bIns="0" rtlCol="0" anchor="ctr"/>
          <a:lstStyle/>
          <a:p>
            <a:pPr indent="0" marL="0">
              <a:buNone/>
            </a:pPr>
            <a:r>
              <a:rPr lang="en-US" sz="3400" b="1" dirty="0">
                <a:solidFill>
                  <a:schemeClr val="accent3"/>
                </a:solidFill>
              </a:rPr>
              <a:t>65,536</a:t>
            </a:r>
            <a:endParaRPr lang="en-US" sz="3400" dirty="0"/>
          </a:p>
        </p:txBody>
      </p:sp>
      <p:sp>
        <p:nvSpPr>
          <p:cNvPr id="15" name="stat-output-label"/>
          <p:cNvSpPr txBox="1"/>
          <p:nvPr/>
        </p:nvSpPr>
        <p:spPr>
          <a:xfrm>
            <a:off x="8275320" y="3790188"/>
            <a:ext cx="3108960" cy="694944"/>
          </a:xfrm>
          <a:prstGeom prst="rect">
            <a:avLst/>
          </a:prstGeom>
          <a:noFill/>
          <a:ln/>
        </p:spPr>
        <p:txBody>
          <a:bodyPr wrap="square" lIns="0" tIns="0" rIns="0" bIns="0" rtlCol="0" anchor="t"/>
          <a:lstStyle/>
          <a:p>
            <a:pPr indent="0" marL="0">
              <a:buNone/>
            </a:pPr>
            <a:r>
              <a:rPr lang="en-US" sz="1400" dirty="0">
                <a:solidFill>
                  <a:schemeClr val="tx2"/>
                </a:solidFill>
              </a:rPr>
              <a:t>tokens it can write back at most. Our plan is tiny, but this model also “thinks” first.</a:t>
            </a:r>
            <a:endParaRPr lang="en-US" sz="1400" dirty="0"/>
          </a:p>
        </p:txBody>
      </p:sp>
      <p:sp>
        <p:nvSpPr>
          <p:cNvPr id="16" name="icon-bg-FaCogs"/>
          <p:cNvSpPr/>
          <p:nvPr/>
        </p:nvSpPr>
        <p:spPr>
          <a:xfrm>
            <a:off x="548640" y="4892040"/>
            <a:ext cx="685800" cy="685800"/>
          </a:xfrm>
          <a:prstGeom prst="ellipse">
            <a:avLst/>
          </a:prstGeom>
          <a:solidFill>
            <a:srgbClr val="0EA5E9"/>
          </a:solidFill>
          <a:ln w="12700">
            <a:solidFill>
              <a:srgbClr val="0EA5E9"/>
            </a:solidFill>
            <a:prstDash val="solid"/>
          </a:ln>
        </p:spPr>
      </p:sp>
      <p:pic>
        <p:nvPicPr>
          <p:cNvPr id="17" name="icon-FaCogs" descr="preencoded.png">    </p:cNvPr>
          <p:cNvPicPr>
            <a:picLocks noChangeAspect="1"/>
          </p:cNvPicPr>
          <p:nvPr/>
        </p:nvPicPr>
        <p:blipFill>
          <a:blip r:embed="rId1"/>
          <a:stretch>
            <a:fillRect/>
          </a:stretch>
        </p:blipFill>
        <p:spPr>
          <a:xfrm>
            <a:off x="720090" y="5063490"/>
            <a:ext cx="342900" cy="342900"/>
          </a:xfrm>
          <a:prstGeom prst="rect">
            <a:avLst/>
          </a:prstGeom>
        </p:spPr>
      </p:pic>
      <p:sp>
        <p:nvSpPr>
          <p:cNvPr id="18" name="Text 15"/>
          <p:cNvSpPr txBox="1"/>
          <p:nvPr/>
        </p:nvSpPr>
        <p:spPr>
          <a:xfrm>
            <a:off x="1463040" y="4846320"/>
            <a:ext cx="4480560" cy="1097280"/>
          </a:xfrm>
          <a:prstGeom prst="rect">
            <a:avLst/>
          </a:prstGeom>
          <a:noFill/>
          <a:ln/>
        </p:spPr>
        <p:txBody>
          <a:bodyPr wrap="square" lIns="0" tIns="0" rIns="0" bIns="0" rtlCol="0" anchor="t"/>
          <a:lstStyle/>
          <a:p>
            <a:pPr indent="0" marL="0">
              <a:buNone/>
            </a:pPr>
            <a:r>
              <a:rPr lang="en-US" sz="1500" b="1" dirty="0">
                <a:solidFill>
                  <a:schemeClr val="tx1"/>
                </a:solidFill>
              </a:rPr>
              <a:t>Easy to swap.  </a:t>
            </a:r>
            <a:pPr indent="0" marL="0">
              <a:buNone/>
            </a:pPr>
            <a:r>
              <a:rPr lang="en-US" sz="1500" dirty="0">
                <a:solidFill>
                  <a:schemeClr val="tx2"/>
                </a:solidFill>
              </a:rPr>
              <a:t>Changing three settings (key, URL, model name) switches to another model, such as gpt-4o-mini or a smaller, cheaper one.</a:t>
            </a:r>
            <a:endParaRPr lang="en-US" sz="1500" dirty="0"/>
          </a:p>
        </p:txBody>
      </p:sp>
      <p:sp>
        <p:nvSpPr>
          <p:cNvPr id="19" name="icon-bg-FaShieldAlt"/>
          <p:cNvSpPr/>
          <p:nvPr/>
        </p:nvSpPr>
        <p:spPr>
          <a:xfrm>
            <a:off x="6263640" y="4892040"/>
            <a:ext cx="685800" cy="685800"/>
          </a:xfrm>
          <a:prstGeom prst="ellipse">
            <a:avLst/>
          </a:prstGeom>
          <a:solidFill>
            <a:srgbClr val="10B981"/>
          </a:solidFill>
          <a:ln w="12700">
            <a:solidFill>
              <a:srgbClr val="10B981"/>
            </a:solidFill>
            <a:prstDash val="solid"/>
          </a:ln>
        </p:spPr>
      </p:sp>
      <p:pic>
        <p:nvPicPr>
          <p:cNvPr id="20" name="icon-FaShieldAlt" descr="preencoded.png">    </p:cNvPr>
          <p:cNvPicPr>
            <a:picLocks noChangeAspect="1"/>
          </p:cNvPicPr>
          <p:nvPr/>
        </p:nvPicPr>
        <p:blipFill>
          <a:blip r:embed="rId2"/>
          <a:stretch>
            <a:fillRect/>
          </a:stretch>
        </p:blipFill>
        <p:spPr>
          <a:xfrm>
            <a:off x="6435090" y="5063490"/>
            <a:ext cx="342900" cy="342900"/>
          </a:xfrm>
          <a:prstGeom prst="rect">
            <a:avLst/>
          </a:prstGeom>
        </p:spPr>
      </p:pic>
      <p:sp>
        <p:nvSpPr>
          <p:cNvPr id="21" name="Text 17"/>
          <p:cNvSpPr txBox="1"/>
          <p:nvPr/>
        </p:nvSpPr>
        <p:spPr>
          <a:xfrm>
            <a:off x="7178040" y="4846320"/>
            <a:ext cx="4434840" cy="1097280"/>
          </a:xfrm>
          <a:prstGeom prst="rect">
            <a:avLst/>
          </a:prstGeom>
          <a:noFill/>
          <a:ln/>
        </p:spPr>
        <p:txBody>
          <a:bodyPr wrap="square" lIns="0" tIns="0" rIns="0" bIns="0" rtlCol="0" anchor="t"/>
          <a:lstStyle/>
          <a:p>
            <a:pPr indent="0" marL="0">
              <a:buNone/>
            </a:pPr>
            <a:r>
              <a:rPr lang="en-US" sz="1500" b="1" dirty="0">
                <a:solidFill>
                  <a:schemeClr val="tx1"/>
                </a:solidFill>
              </a:rPr>
              <a:t>Never stuck.  </a:t>
            </a:r>
            <a:pPr indent="0" marL="0">
              <a:buNone/>
            </a:pPr>
            <a:r>
              <a:rPr lang="en-US" sz="1500" dirty="0">
                <a:solidFill>
                  <a:schemeClr val="tx2"/>
                </a:solidFill>
              </a:rPr>
              <a:t>If the model is slow or the key fails, the app switches to a built-in rule-based planner (no AI) and still answers.</a:t>
            </a:r>
            <a:endParaRPr lang="en-US" sz="1500" dirty="0"/>
          </a:p>
        </p:txBody>
      </p:sp>
      <p:sp>
        <p:nvSpPr>
          <p:cNvPr id="22" name="Text 18"/>
          <p:cNvSpPr txBox="1"/>
          <p:nvPr/>
        </p:nvSpPr>
        <p:spPr>
          <a:xfrm>
            <a:off x="548640" y="6053328"/>
            <a:ext cx="10972800" cy="274320"/>
          </a:xfrm>
          <a:prstGeom prst="rect">
            <a:avLst/>
          </a:prstGeom>
          <a:noFill/>
          <a:ln/>
        </p:spPr>
        <p:txBody>
          <a:bodyPr wrap="square" lIns="0" tIns="0" rIns="0" bIns="0" rtlCol="0" anchor="t"/>
          <a:lstStyle/>
          <a:p>
            <a:pPr indent="0" marL="0">
              <a:buNone/>
            </a:pPr>
            <a:r>
              <a:rPr lang="en-US" sz="1100" dirty="0">
                <a:solidFill>
                  <a:schemeClr val="accent6"/>
                </a:solidFill>
              </a:rPr>
              <a:t>Size (from the model name), context, output limit and price are from Groq's model documentation. It is the largest model our Groq account can use.</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Settings (parameters) and why we chose them</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743200"/>
                <a:gridCol w="5943600"/>
              </a:tblGrid>
              <a:tr h="493776">
                <a:tc>
                  <a:txBody>
                    <a:bodyPr/>
                    <a:lstStyle/>
                    <a:p>
                      <a:pPr indent="0" marL="0">
                        <a:buNone/>
                      </a:pPr>
                      <a:r>
                        <a:rPr lang="en-US" sz="1400" b="1" dirty="0">
                          <a:solidFill>
                            <a:schemeClr val="bg1"/>
                          </a:solidFill>
                        </a:rPr>
                        <a:t>Setting</a:t>
                      </a:r>
                      <a:endParaRPr lang="en-US" sz="14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Value</a:t>
                      </a:r>
                      <a:endParaRPr lang="en-US" sz="14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Why (in simple words)</a:t>
                      </a:r>
                      <a:endParaRPr lang="en-US" sz="14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493776">
                <a:tc>
                  <a:txBody>
                    <a:bodyPr/>
                    <a:lstStyle/>
                    <a:p>
                      <a:pPr indent="0" marL="0">
                        <a:buNone/>
                      </a:pPr>
                      <a:r>
                        <a:rPr lang="en-US" sz="1500" b="1" dirty="0">
                          <a:solidFill>
                            <a:schemeClr val="tx1"/>
                          </a:solidFill>
                        </a:rPr>
                        <a:t>Model</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gpt-oss-120b</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The largest model our Groq account can use. It can be swapped in settings.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93776">
                <a:tc>
                  <a:txBody>
                    <a:bodyPr/>
                    <a:lstStyle/>
                    <a:p>
                      <a:pPr indent="0" marL="0">
                        <a:buNone/>
                      </a:pPr>
                      <a:r>
                        <a:rPr lang="en-US" sz="1500" b="1" dirty="0">
                          <a:solidFill>
                            <a:schemeClr val="tx1"/>
                          </a:solidFill>
                        </a:rPr>
                        <a:t>Temperature</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0</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No randomness: the same question always gives the same plan.</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93776">
                <a:tc>
                  <a:txBody>
                    <a:bodyPr/>
                    <a:lstStyle/>
                    <a:p>
                      <a:pPr indent="0" marL="0">
                        <a:buNone/>
                      </a:pPr>
                      <a:r>
                        <a:rPr lang="en-US" sz="1500" b="1" dirty="0">
                          <a:solidFill>
                            <a:schemeClr val="tx1"/>
                          </a:solidFill>
                        </a:rPr>
                        <a:t>Answer format</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JSON only</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A fixed form that a program can check, never free text.</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93776">
                <a:tc>
                  <a:txBody>
                    <a:bodyPr/>
                    <a:lstStyle/>
                    <a:p>
                      <a:pPr indent="0" marL="0">
                        <a:buNone/>
                      </a:pPr>
                      <a:r>
                        <a:rPr lang="en-US" sz="1500" b="1" dirty="0">
                          <a:solidFill>
                            <a:schemeClr val="tx1"/>
                          </a:solidFill>
                        </a:rPr>
                        <a:t>Time limit</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30 seconds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If the model is too slow, we stop waiting and use the backup.</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93776">
                <a:tc>
                  <a:txBody>
                    <a:bodyPr/>
                    <a:lstStyle/>
                    <a:p>
                      <a:pPr indent="0" marL="0">
                        <a:buNone/>
                      </a:pPr>
                      <a:r>
                        <a:rPr lang="en-US" sz="1500" b="1" dirty="0">
                          <a:solidFill>
                            <a:schemeClr val="tx1"/>
                          </a:solidFill>
                        </a:rPr>
                        <a:t>Retries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1</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If the reply is broken, we show the model its mistake and ask once more.</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93776">
                <a:tc>
                  <a:txBody>
                    <a:bodyPr/>
                    <a:lstStyle/>
                    <a:p>
                      <a:pPr indent="0" marL="0">
                        <a:buNone/>
                      </a:pPr>
                      <a:r>
                        <a:rPr lang="en-US" sz="1500" b="1" dirty="0">
                          <a:solidFill>
                            <a:schemeClr val="tx1"/>
                          </a:solidFill>
                        </a:rPr>
                        <a:t>Context sent</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Schema + stats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Column names, summary numbers, a few example values. Never all rows.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93776">
                <a:tc>
                  <a:txBody>
                    <a:bodyPr/>
                    <a:lstStyle/>
                    <a:p>
                      <a:pPr indent="0" marL="0">
                        <a:buNone/>
                      </a:pPr>
                      <a:r>
                        <a:rPr lang="en-US" sz="1500" b="1" dirty="0">
                          <a:solidFill>
                            <a:schemeClr val="tx1"/>
                          </a:solidFill>
                        </a:rPr>
                        <a:t>Result size caps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200 rows / 1,000 points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500" dirty="0">
                          <a:solidFill>
                            <a:schemeClr val="tx2"/>
                          </a:solidFill>
                        </a:rPr>
                        <a:t>Keeps answers fast and the screen readable.</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93776">
                <a:tc>
                  <a:txBody>
                    <a:bodyPr/>
                    <a:lstStyle/>
                    <a:p>
                      <a:pPr indent="0" marL="0">
                        <a:buNone/>
                      </a:pPr>
                      <a:r>
                        <a:rPr lang="en-US" sz="1500" b="1" dirty="0">
                          <a:solidFill>
                            <a:schemeClr val="tx1"/>
                          </a:solidFill>
                        </a:rPr>
                        <a:t>File limits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2"/>
                          </a:solidFill>
                        </a:rPr>
                        <a:t>25 MB · 100,000 rows</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500" dirty="0">
                          <a:solidFill>
                            <a:schemeClr val="tx2"/>
                          </a:solidFill>
                        </a:rPr>
                        <a:t>Larger files are refused with a clear message, never cut silently.</a:t>
                      </a:r>
                      <a:endParaRPr lang="en-US" sz="1500" dirty="0"/>
                    </a:p>
                  </a:txBody>
                  <a:tcPr marL="109728" marR="109728"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300" dirty="0">
                <a:solidFill>
                  <a:schemeClr val="accent6"/>
                </a:solidFill>
              </a:rPr>
              <a:t>All of these are plain settings in the app's environment file, so they can be tuned without touching code.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Token size: what we send to the AI per question</a:t>
            </a:r>
            <a:endParaRPr lang="en-US" sz="3400" dirty="0"/>
          </a:p>
        </p:txBody>
      </p:sp>
      <p:sp>
        <p:nvSpPr>
          <p:cNvPr id="3" name="token-explainer"/>
          <p:cNvSpPr/>
          <p:nvPr/>
        </p:nvSpPr>
        <p:spPr>
          <a:xfrm>
            <a:off x="548640" y="1371600"/>
            <a:ext cx="4206240" cy="1783080"/>
          </a:xfrm>
          <a:prstGeom prst="roundRect">
            <a:avLst>
              <a:gd name="adj" fmla="val 6154"/>
            </a:avLst>
          </a:prstGeom>
          <a:solidFill>
            <a:schemeClr val="bg2"/>
          </a:solidFill>
          <a:ln w="9525">
            <a:solidFill>
              <a:schemeClr val="bg2"/>
            </a:solidFill>
            <a:prstDash val="solid"/>
          </a:ln>
        </p:spPr>
      </p:sp>
      <p:sp>
        <p:nvSpPr>
          <p:cNvPr id="4" name="Text 2"/>
          <p:cNvSpPr txBox="1"/>
          <p:nvPr/>
        </p:nvSpPr>
        <p:spPr>
          <a:xfrm>
            <a:off x="777240" y="1508760"/>
            <a:ext cx="3749040" cy="365760"/>
          </a:xfrm>
          <a:prstGeom prst="rect">
            <a:avLst/>
          </a:prstGeom>
          <a:noFill/>
          <a:ln/>
        </p:spPr>
        <p:txBody>
          <a:bodyPr wrap="square" lIns="0" tIns="0" rIns="0" bIns="0" rtlCol="0" anchor="t"/>
          <a:lstStyle/>
          <a:p>
            <a:pPr indent="0" marL="0">
              <a:buNone/>
            </a:pPr>
            <a:r>
              <a:rPr lang="en-US" sz="1800" b="1" dirty="0">
                <a:solidFill>
                  <a:schemeClr val="tx1"/>
                </a:solidFill>
              </a:rPr>
              <a:t>What is a token?</a:t>
            </a:r>
            <a:endParaRPr lang="en-US" sz="1800" dirty="0"/>
          </a:p>
        </p:txBody>
      </p:sp>
      <p:sp>
        <p:nvSpPr>
          <p:cNvPr id="5" name="Text 3"/>
          <p:cNvSpPr txBox="1"/>
          <p:nvPr/>
        </p:nvSpPr>
        <p:spPr>
          <a:xfrm>
            <a:off x="777240" y="1920240"/>
            <a:ext cx="3749040" cy="1280160"/>
          </a:xfrm>
          <a:prstGeom prst="rect">
            <a:avLst/>
          </a:prstGeom>
          <a:noFill/>
          <a:ln/>
        </p:spPr>
        <p:txBody>
          <a:bodyPr wrap="square" lIns="0" tIns="0" rIns="0" bIns="0" rtlCol="0" anchor="t"/>
          <a:lstStyle/>
          <a:p>
            <a:pPr indent="0" marL="0">
              <a:buNone/>
            </a:pPr>
            <a:r>
              <a:rPr lang="en-US" sz="1500" dirty="0">
                <a:solidFill>
                  <a:schemeClr val="tx2"/>
                </a:solidFill>
              </a:rPr>
              <a:t>A small piece of text, about ¾ of a word. AI models read and write in tokens, and providers limit and charge by tokens.</a:t>
            </a:r>
            <a:endParaRPr lang="en-US" sz="1500" dirty="0"/>
          </a:p>
        </p:txBody>
      </p:sp>
      <p:sp>
        <p:nvSpPr>
          <p:cNvPr id="6" name="tok-in"/>
          <p:cNvSpPr/>
          <p:nvPr/>
        </p:nvSpPr>
        <p:spPr>
          <a:xfrm>
            <a:off x="548640" y="3429000"/>
            <a:ext cx="2011680" cy="1554480"/>
          </a:xfrm>
          <a:prstGeom prst="roundRect">
            <a:avLst>
              <a:gd name="adj" fmla="val 7059"/>
            </a:avLst>
          </a:prstGeom>
          <a:solidFill>
            <a:schemeClr val="bg2"/>
          </a:solidFill>
          <a:ln w="9525">
            <a:solidFill>
              <a:schemeClr val="bg2"/>
            </a:solidFill>
            <a:prstDash val="solid"/>
          </a:ln>
        </p:spPr>
      </p:sp>
      <p:sp>
        <p:nvSpPr>
          <p:cNvPr id="7" name="tok-in-value"/>
          <p:cNvSpPr txBox="1"/>
          <p:nvPr/>
        </p:nvSpPr>
        <p:spPr>
          <a:xfrm>
            <a:off x="777240" y="3611880"/>
            <a:ext cx="1554480" cy="777240"/>
          </a:xfrm>
          <a:prstGeom prst="rect">
            <a:avLst/>
          </a:prstGeom>
          <a:noFill/>
          <a:ln/>
        </p:spPr>
        <p:txBody>
          <a:bodyPr wrap="square" lIns="0" tIns="0" rIns="0" bIns="0" rtlCol="0" anchor="ctr"/>
          <a:lstStyle/>
          <a:p>
            <a:pPr indent="0" marL="0">
              <a:buNone/>
            </a:pPr>
            <a:r>
              <a:rPr lang="en-US" sz="2800" b="1" dirty="0">
                <a:solidFill>
                  <a:schemeClr val="accent2"/>
                </a:solidFill>
              </a:rPr>
              <a:t>2,232</a:t>
            </a:r>
            <a:endParaRPr lang="en-US" sz="2800" dirty="0"/>
          </a:p>
        </p:txBody>
      </p:sp>
      <p:sp>
        <p:nvSpPr>
          <p:cNvPr id="8" name="tok-in-label"/>
          <p:cNvSpPr txBox="1"/>
          <p:nvPr/>
        </p:nvSpPr>
        <p:spPr>
          <a:xfrm>
            <a:off x="777240" y="4283964"/>
            <a:ext cx="1554480" cy="621792"/>
          </a:xfrm>
          <a:prstGeom prst="rect">
            <a:avLst/>
          </a:prstGeom>
          <a:noFill/>
          <a:ln/>
        </p:spPr>
        <p:txBody>
          <a:bodyPr wrap="square" lIns="0" tIns="0" rIns="0" bIns="0" rtlCol="0" anchor="t"/>
          <a:lstStyle/>
          <a:p>
            <a:pPr indent="0" marL="0">
              <a:buNone/>
            </a:pPr>
            <a:r>
              <a:rPr lang="en-US" sz="1200" dirty="0">
                <a:solidFill>
                  <a:schemeClr val="tx2"/>
                </a:solidFill>
              </a:rPr>
              <a:t>tokens in per question, measured by Groq</a:t>
            </a:r>
            <a:endParaRPr lang="en-US" sz="1200" dirty="0"/>
          </a:p>
        </p:txBody>
      </p:sp>
      <p:sp>
        <p:nvSpPr>
          <p:cNvPr id="9" name="tok-out"/>
          <p:cNvSpPr/>
          <p:nvPr/>
        </p:nvSpPr>
        <p:spPr>
          <a:xfrm>
            <a:off x="2743200" y="3429000"/>
            <a:ext cx="2011680" cy="1554480"/>
          </a:xfrm>
          <a:prstGeom prst="roundRect">
            <a:avLst>
              <a:gd name="adj" fmla="val 7059"/>
            </a:avLst>
          </a:prstGeom>
          <a:solidFill>
            <a:schemeClr val="bg2"/>
          </a:solidFill>
          <a:ln w="9525">
            <a:solidFill>
              <a:schemeClr val="bg2"/>
            </a:solidFill>
            <a:prstDash val="solid"/>
          </a:ln>
        </p:spPr>
      </p:sp>
      <p:sp>
        <p:nvSpPr>
          <p:cNvPr id="10" name="tok-out-value"/>
          <p:cNvSpPr txBox="1"/>
          <p:nvPr/>
        </p:nvSpPr>
        <p:spPr>
          <a:xfrm>
            <a:off x="2971800" y="3611880"/>
            <a:ext cx="1554480" cy="777240"/>
          </a:xfrm>
          <a:prstGeom prst="rect">
            <a:avLst/>
          </a:prstGeom>
          <a:noFill/>
          <a:ln/>
        </p:spPr>
        <p:txBody>
          <a:bodyPr wrap="square" lIns="0" tIns="0" rIns="0" bIns="0" rtlCol="0" anchor="ctr"/>
          <a:lstStyle/>
          <a:p>
            <a:pPr indent="0" marL="0">
              <a:buNone/>
            </a:pPr>
            <a:r>
              <a:rPr lang="en-US" sz="2800" b="1" dirty="0">
                <a:solidFill>
                  <a:schemeClr val="accent1"/>
                </a:solidFill>
              </a:rPr>
              <a:t>131</a:t>
            </a:r>
            <a:endParaRPr lang="en-US" sz="2800" dirty="0"/>
          </a:p>
        </p:txBody>
      </p:sp>
      <p:sp>
        <p:nvSpPr>
          <p:cNvPr id="11" name="tok-out-label"/>
          <p:cNvSpPr txBox="1"/>
          <p:nvPr/>
        </p:nvSpPr>
        <p:spPr>
          <a:xfrm>
            <a:off x="2971800" y="4283964"/>
            <a:ext cx="1554480" cy="621792"/>
          </a:xfrm>
          <a:prstGeom prst="rect">
            <a:avLst/>
          </a:prstGeom>
          <a:noFill/>
          <a:ln/>
        </p:spPr>
        <p:txBody>
          <a:bodyPr wrap="square" lIns="0" tIns="0" rIns="0" bIns="0" rtlCol="0" anchor="t"/>
          <a:lstStyle/>
          <a:p>
            <a:pPr indent="0" marL="0">
              <a:buNone/>
            </a:pPr>
            <a:r>
              <a:rPr lang="en-US" sz="1200" dirty="0">
                <a:solidFill>
                  <a:schemeClr val="tx2"/>
                </a:solidFill>
              </a:rPr>
              <a:t>tokens out: the plan plus the model's thinking</a:t>
            </a:r>
            <a:endParaRPr lang="en-US" sz="1200" dirty="0"/>
          </a:p>
        </p:txBody>
      </p:sp>
      <p:graphicFrame>
        <p:nvGraphicFramePr>
          <p:cNvPr id="12" name="Chart 0" descr=""/>
          <p:cNvGraphicFramePr/>
          <p:nvPr/>
        </p:nvGraphicFramePr>
        <p:xfrm>
          <a:off x="5029200" y="128016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100" dirty="0">
                <a:solidFill>
                  <a:schemeClr val="accent6"/>
                </a:solidFill>
              </a:rPr>
              <a:t>Chart: counted with the tiktoken tokenizer (an estimate). Left cards: the average of Groq's own counts over 65 real questions. The reply is a tiny plan (≈35 tokens); the rest of the output is the model thinking before it answers.</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Why we never paste the whole CSV into the AI</a:t>
            </a:r>
            <a:endParaRPr lang="en-US" sz="3400" dirty="0"/>
          </a:p>
        </p:txBody>
      </p:sp>
      <p:sp>
        <p:nvSpPr>
          <p:cNvPr id="3" name="ours"/>
          <p:cNvSpPr/>
          <p:nvPr/>
        </p:nvSpPr>
        <p:spPr>
          <a:xfrm>
            <a:off x="548640" y="1463040"/>
            <a:ext cx="3566160" cy="2651760"/>
          </a:xfrm>
          <a:prstGeom prst="roundRect">
            <a:avLst>
              <a:gd name="adj" fmla="val 4138"/>
            </a:avLst>
          </a:prstGeom>
          <a:solidFill>
            <a:schemeClr val="bg2"/>
          </a:solidFill>
          <a:ln w="9525">
            <a:solidFill>
              <a:schemeClr val="bg2"/>
            </a:solidFill>
            <a:prstDash val="solid"/>
          </a:ln>
        </p:spPr>
      </p:sp>
      <p:sp>
        <p:nvSpPr>
          <p:cNvPr id="4" name="ours-value"/>
          <p:cNvSpPr txBox="1"/>
          <p:nvPr/>
        </p:nvSpPr>
        <p:spPr>
          <a:xfrm>
            <a:off x="777240" y="1645920"/>
            <a:ext cx="3108960" cy="1325880"/>
          </a:xfrm>
          <a:prstGeom prst="rect">
            <a:avLst/>
          </a:prstGeom>
          <a:noFill/>
          <a:ln/>
        </p:spPr>
        <p:txBody>
          <a:bodyPr wrap="square" lIns="0" tIns="0" rIns="0" bIns="0" rtlCol="0" anchor="ctr"/>
          <a:lstStyle/>
          <a:p>
            <a:pPr indent="0" marL="0">
              <a:buNone/>
            </a:pPr>
            <a:r>
              <a:rPr lang="en-US" sz="4400" b="1" dirty="0">
                <a:solidFill>
                  <a:schemeClr val="accent1"/>
                </a:solidFill>
              </a:rPr>
              <a:t>≈ 2,200</a:t>
            </a:r>
            <a:endParaRPr lang="en-US" sz="4400" dirty="0"/>
          </a:p>
        </p:txBody>
      </p:sp>
      <p:sp>
        <p:nvSpPr>
          <p:cNvPr id="5" name="ours-label"/>
          <p:cNvSpPr txBox="1"/>
          <p:nvPr/>
        </p:nvSpPr>
        <p:spPr>
          <a:xfrm>
            <a:off x="777240" y="2921508"/>
            <a:ext cx="3108960" cy="1060704"/>
          </a:xfrm>
          <a:prstGeom prst="rect">
            <a:avLst/>
          </a:prstGeom>
          <a:noFill/>
          <a:ln/>
        </p:spPr>
        <p:txBody>
          <a:bodyPr wrap="square" lIns="0" tIns="0" rIns="0" bIns="0" rtlCol="0" anchor="t"/>
          <a:lstStyle/>
          <a:p>
            <a:pPr indent="0" marL="0">
              <a:buNone/>
            </a:pPr>
            <a:r>
              <a:rPr lang="en-US" sz="1500" dirty="0">
                <a:solidFill>
                  <a:schemeClr val="tx2"/>
                </a:solidFill>
              </a:rPr>
              <a:t>tokens per question with ChatCSV AI. About the same for a 100-row or a 100,000-row file.</a:t>
            </a:r>
            <a:endParaRPr lang="en-US" sz="1500" dirty="0"/>
          </a:p>
        </p:txBody>
      </p:sp>
      <p:sp>
        <p:nvSpPr>
          <p:cNvPr id="6" name="whole-small"/>
          <p:cNvSpPr/>
          <p:nvPr/>
        </p:nvSpPr>
        <p:spPr>
          <a:xfrm>
            <a:off x="4297680" y="1463040"/>
            <a:ext cx="3566160" cy="2651760"/>
          </a:xfrm>
          <a:prstGeom prst="roundRect">
            <a:avLst>
              <a:gd name="adj" fmla="val 4138"/>
            </a:avLst>
          </a:prstGeom>
          <a:solidFill>
            <a:schemeClr val="bg2"/>
          </a:solidFill>
          <a:ln w="9525">
            <a:solidFill>
              <a:schemeClr val="bg2"/>
            </a:solidFill>
            <a:prstDash val="solid"/>
          </a:ln>
        </p:spPr>
      </p:sp>
      <p:sp>
        <p:nvSpPr>
          <p:cNvPr id="7" name="whole-small-value"/>
          <p:cNvSpPr txBox="1"/>
          <p:nvPr/>
        </p:nvSpPr>
        <p:spPr>
          <a:xfrm>
            <a:off x="4526280" y="1645920"/>
            <a:ext cx="3108960" cy="1325880"/>
          </a:xfrm>
          <a:prstGeom prst="rect">
            <a:avLst/>
          </a:prstGeom>
          <a:noFill/>
          <a:ln/>
        </p:spPr>
        <p:txBody>
          <a:bodyPr wrap="square" lIns="0" tIns="0" rIns="0" bIns="0" rtlCol="0" anchor="ctr"/>
          <a:lstStyle/>
          <a:p>
            <a:pPr indent="0" marL="0">
              <a:buNone/>
            </a:pPr>
            <a:r>
              <a:rPr lang="en-US" sz="4400" b="1" dirty="0">
                <a:solidFill>
                  <a:schemeClr val="accent3"/>
                </a:solidFill>
              </a:rPr>
              <a:t>8,481</a:t>
            </a:r>
            <a:endParaRPr lang="en-US" sz="4400" dirty="0"/>
          </a:p>
        </p:txBody>
      </p:sp>
      <p:sp>
        <p:nvSpPr>
          <p:cNvPr id="8" name="whole-small-label"/>
          <p:cNvSpPr txBox="1"/>
          <p:nvPr/>
        </p:nvSpPr>
        <p:spPr>
          <a:xfrm>
            <a:off x="4526280" y="2921508"/>
            <a:ext cx="3108960" cy="1060704"/>
          </a:xfrm>
          <a:prstGeom prst="rect">
            <a:avLst/>
          </a:prstGeom>
          <a:noFill/>
          <a:ln/>
        </p:spPr>
        <p:txBody>
          <a:bodyPr wrap="square" lIns="0" tIns="0" rIns="0" bIns="0" rtlCol="0" anchor="t"/>
          <a:lstStyle/>
          <a:p>
            <a:pPr indent="0" marL="0">
              <a:buNone/>
            </a:pPr>
            <a:r>
              <a:rPr lang="en-US" sz="1500" dirty="0">
                <a:solidFill>
                  <a:schemeClr val="tx2"/>
                </a:solidFill>
              </a:rPr>
              <a:t>tokens to paste the 250-row sales file whole. Already 3.7× more, and it grows with every row.</a:t>
            </a:r>
            <a:endParaRPr lang="en-US" sz="1500" dirty="0"/>
          </a:p>
        </p:txBody>
      </p:sp>
      <p:sp>
        <p:nvSpPr>
          <p:cNvPr id="9" name="whole-big"/>
          <p:cNvSpPr/>
          <p:nvPr/>
        </p:nvSpPr>
        <p:spPr>
          <a:xfrm>
            <a:off x="8046720" y="1463040"/>
            <a:ext cx="3566160" cy="2651760"/>
          </a:xfrm>
          <a:prstGeom prst="roundRect">
            <a:avLst>
              <a:gd name="adj" fmla="val 4138"/>
            </a:avLst>
          </a:prstGeom>
          <a:solidFill>
            <a:schemeClr val="bg2"/>
          </a:solidFill>
          <a:ln w="9525">
            <a:solidFill>
              <a:schemeClr val="bg2"/>
            </a:solidFill>
            <a:prstDash val="solid"/>
          </a:ln>
        </p:spPr>
      </p:sp>
      <p:sp>
        <p:nvSpPr>
          <p:cNvPr id="10" name="whole-big-value"/>
          <p:cNvSpPr txBox="1"/>
          <p:nvPr/>
        </p:nvSpPr>
        <p:spPr>
          <a:xfrm>
            <a:off x="8275320" y="1645920"/>
            <a:ext cx="3108960" cy="1325880"/>
          </a:xfrm>
          <a:prstGeom prst="rect">
            <a:avLst/>
          </a:prstGeom>
          <a:noFill/>
          <a:ln/>
        </p:spPr>
        <p:txBody>
          <a:bodyPr wrap="square" lIns="0" tIns="0" rIns="0" bIns="0" rtlCol="0" anchor="ctr"/>
          <a:lstStyle/>
          <a:p>
            <a:pPr indent="0" marL="0">
              <a:buNone/>
            </a:pPr>
            <a:r>
              <a:rPr lang="en-US" sz="3600" b="1" dirty="0">
                <a:solidFill>
                  <a:schemeClr val="accent4"/>
                </a:solidFill>
              </a:rPr>
              <a:t>2.0–3.4 million</a:t>
            </a:r>
            <a:endParaRPr lang="en-US" sz="3600" dirty="0"/>
          </a:p>
        </p:txBody>
      </p:sp>
      <p:sp>
        <p:nvSpPr>
          <p:cNvPr id="11" name="whole-big-label"/>
          <p:cNvSpPr txBox="1"/>
          <p:nvPr/>
        </p:nvSpPr>
        <p:spPr>
          <a:xfrm>
            <a:off x="8275320" y="2921508"/>
            <a:ext cx="3108960" cy="1060704"/>
          </a:xfrm>
          <a:prstGeom prst="rect">
            <a:avLst/>
          </a:prstGeom>
          <a:noFill/>
          <a:ln/>
        </p:spPr>
        <p:txBody>
          <a:bodyPr wrap="square" lIns="0" tIns="0" rIns="0" bIns="0" rtlCol="0" anchor="t"/>
          <a:lstStyle/>
          <a:p>
            <a:pPr indent="0" marL="0">
              <a:buNone/>
            </a:pPr>
            <a:r>
              <a:rPr lang="en-US" sz="1500" dirty="0">
                <a:solidFill>
                  <a:schemeClr val="tx2"/>
                </a:solidFill>
              </a:rPr>
              <a:t>tokens for a 100,000-row file: 16–26× the model's 131,072 limit. It simply would not fit.</a:t>
            </a:r>
            <a:endParaRPr lang="en-US" sz="1500" dirty="0"/>
          </a:p>
        </p:txBody>
      </p:sp>
      <p:sp>
        <p:nvSpPr>
          <p:cNvPr id="12" name="icon-bg-FaDatabase"/>
          <p:cNvSpPr/>
          <p:nvPr/>
        </p:nvSpPr>
        <p:spPr>
          <a:xfrm>
            <a:off x="548640" y="4526280"/>
            <a:ext cx="731520" cy="731520"/>
          </a:xfrm>
          <a:prstGeom prst="ellipse">
            <a:avLst/>
          </a:prstGeom>
          <a:solidFill>
            <a:srgbClr val="0EA5E9"/>
          </a:solidFill>
          <a:ln w="12700">
            <a:solidFill>
              <a:srgbClr val="0EA5E9"/>
            </a:solidFill>
            <a:prstDash val="solid"/>
          </a:ln>
        </p:spPr>
      </p:sp>
      <p:pic>
        <p:nvPicPr>
          <p:cNvPr id="13" name="icon-FaDatabase" descr="preencoded.png">    </p:cNvPr>
          <p:cNvPicPr>
            <a:picLocks noChangeAspect="1"/>
          </p:cNvPicPr>
          <p:nvPr/>
        </p:nvPicPr>
        <p:blipFill>
          <a:blip r:embed="rId1"/>
          <a:stretch>
            <a:fillRect/>
          </a:stretch>
        </p:blipFill>
        <p:spPr>
          <a:xfrm>
            <a:off x="731520" y="4709160"/>
            <a:ext cx="365760" cy="365760"/>
          </a:xfrm>
          <a:prstGeom prst="rect">
            <a:avLst/>
          </a:prstGeom>
        </p:spPr>
      </p:pic>
      <p:sp>
        <p:nvSpPr>
          <p:cNvPr id="14" name="Text 11"/>
          <p:cNvSpPr txBox="1"/>
          <p:nvPr/>
        </p:nvSpPr>
        <p:spPr>
          <a:xfrm>
            <a:off x="1508760" y="4480560"/>
            <a:ext cx="10058400" cy="1097280"/>
          </a:xfrm>
          <a:prstGeom prst="rect">
            <a:avLst/>
          </a:prstGeom>
          <a:noFill/>
          <a:ln/>
        </p:spPr>
        <p:txBody>
          <a:bodyPr wrap="square" lIns="0" tIns="0" rIns="0" bIns="0" rtlCol="0" anchor="t"/>
          <a:lstStyle/>
          <a:p>
            <a:pPr indent="0" marL="0">
              <a:buNone/>
            </a:pPr>
            <a:r>
              <a:rPr lang="en-US" sz="1700" b="1" dirty="0">
                <a:solidFill>
                  <a:schemeClr val="tx1"/>
                </a:solidFill>
              </a:rPr>
              <a:t>Better for privacy and cost too.  </a:t>
            </a:r>
            <a:pPr indent="0" marL="0">
              <a:buNone/>
            </a:pPr>
            <a:r>
              <a:rPr lang="en-US" sz="1700" dirty="0">
                <a:solidFill>
                  <a:schemeClr val="tx2"/>
                </a:solidFill>
              </a:rPr>
              <a:t>Only column names, summary numbers and a few example values leave the server. The real table stays in memory and is analysed by pandas.</a:t>
            </a:r>
            <a:endParaRPr lang="en-US" sz="1700" dirty="0"/>
          </a:p>
        </p:txBody>
      </p:sp>
      <p:sp>
        <p:nvSpPr>
          <p:cNvPr id="15" name="Text 12"/>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100" dirty="0">
                <a:solidFill>
                  <a:schemeClr val="accent6"/>
                </a:solidFill>
              </a:rPr>
              <a:t>For the tiny 100-row student file the two sizes are close (2,082 vs 2,034); the benefit appears as files grow. 100,000-row figures are projected from the measured tokens per row.</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we tested the model</a:t>
            </a:r>
            <a:endParaRPr lang="en-US" sz="3400" dirty="0"/>
          </a:p>
        </p:txBody>
      </p:sp>
      <p:sp>
        <p:nvSpPr>
          <p:cNvPr id="3" name="fact-0"/>
          <p:cNvSpPr/>
          <p:nvPr/>
        </p:nvSpPr>
        <p:spPr>
          <a:xfrm>
            <a:off x="548640" y="1371600"/>
            <a:ext cx="4206240" cy="1417320"/>
          </a:xfrm>
          <a:prstGeom prst="roundRect">
            <a:avLst>
              <a:gd name="adj" fmla="val 7742"/>
            </a:avLst>
          </a:prstGeom>
          <a:solidFill>
            <a:schemeClr val="bg2"/>
          </a:solidFill>
          <a:ln w="9525">
            <a:solidFill>
              <a:schemeClr val="bg2"/>
            </a:solidFill>
            <a:prstDash val="solid"/>
          </a:ln>
        </p:spPr>
      </p:sp>
      <p:sp>
        <p:nvSpPr>
          <p:cNvPr id="4" name="fact-0-value"/>
          <p:cNvSpPr txBox="1"/>
          <p:nvPr/>
        </p:nvSpPr>
        <p:spPr>
          <a:xfrm>
            <a:off x="777240" y="1554480"/>
            <a:ext cx="3749040" cy="708660"/>
          </a:xfrm>
          <a:prstGeom prst="rect">
            <a:avLst/>
          </a:prstGeom>
          <a:noFill/>
          <a:ln/>
        </p:spPr>
        <p:txBody>
          <a:bodyPr wrap="square" lIns="0" tIns="0" rIns="0" bIns="0" rtlCol="0" anchor="ctr"/>
          <a:lstStyle/>
          <a:p>
            <a:pPr indent="0" marL="0">
              <a:buNone/>
            </a:pPr>
            <a:r>
              <a:rPr lang="en-US" sz="3600" b="1" dirty="0">
                <a:solidFill>
                  <a:schemeClr val="accent2"/>
                </a:solidFill>
              </a:rPr>
              <a:t>65</a:t>
            </a:r>
            <a:endParaRPr lang="en-US" sz="3600" dirty="0"/>
          </a:p>
        </p:txBody>
      </p:sp>
      <p:sp>
        <p:nvSpPr>
          <p:cNvPr id="5" name="fact-0-label"/>
          <p:cNvSpPr txBox="1"/>
          <p:nvPr/>
        </p:nvSpPr>
        <p:spPr>
          <a:xfrm>
            <a:off x="777240" y="2151126"/>
            <a:ext cx="3749040" cy="566928"/>
          </a:xfrm>
          <a:prstGeom prst="rect">
            <a:avLst/>
          </a:prstGeom>
          <a:noFill/>
          <a:ln/>
        </p:spPr>
        <p:txBody>
          <a:bodyPr wrap="square" lIns="0" tIns="0" rIns="0" bIns="0" rtlCol="0" anchor="t"/>
          <a:lstStyle/>
          <a:p>
            <a:pPr indent="0" marL="0">
              <a:buNone/>
            </a:pPr>
            <a:r>
              <a:rPr lang="en-US" sz="1400" dirty="0">
                <a:solidFill>
                  <a:schemeClr val="tx2"/>
                </a:solidFill>
              </a:rPr>
              <a:t>questions in total</a:t>
            </a:r>
            <a:endParaRPr lang="en-US" sz="1400" dirty="0"/>
          </a:p>
        </p:txBody>
      </p:sp>
      <p:sp>
        <p:nvSpPr>
          <p:cNvPr id="6" name="fact-1"/>
          <p:cNvSpPr/>
          <p:nvPr/>
        </p:nvSpPr>
        <p:spPr>
          <a:xfrm>
            <a:off x="548640" y="2971800"/>
            <a:ext cx="4206240" cy="1417320"/>
          </a:xfrm>
          <a:prstGeom prst="roundRect">
            <a:avLst>
              <a:gd name="adj" fmla="val 7742"/>
            </a:avLst>
          </a:prstGeom>
          <a:solidFill>
            <a:schemeClr val="bg2"/>
          </a:solidFill>
          <a:ln w="9525">
            <a:solidFill>
              <a:schemeClr val="bg2"/>
            </a:solidFill>
            <a:prstDash val="solid"/>
          </a:ln>
        </p:spPr>
      </p:sp>
      <p:sp>
        <p:nvSpPr>
          <p:cNvPr id="7" name="fact-1-value"/>
          <p:cNvSpPr txBox="1"/>
          <p:nvPr/>
        </p:nvSpPr>
        <p:spPr>
          <a:xfrm>
            <a:off x="777240" y="3154680"/>
            <a:ext cx="3749040" cy="708660"/>
          </a:xfrm>
          <a:prstGeom prst="rect">
            <a:avLst/>
          </a:prstGeom>
          <a:noFill/>
          <a:ln/>
        </p:spPr>
        <p:txBody>
          <a:bodyPr wrap="square" lIns="0" tIns="0" rIns="0" bIns="0" rtlCol="0" anchor="ctr"/>
          <a:lstStyle/>
          <a:p>
            <a:pPr indent="0" marL="0">
              <a:buNone/>
            </a:pPr>
            <a:r>
              <a:rPr lang="en-US" sz="3600" b="1" dirty="0">
                <a:solidFill>
                  <a:schemeClr val="accent1"/>
                </a:solidFill>
              </a:rPr>
              <a:t>2</a:t>
            </a:r>
            <a:endParaRPr lang="en-US" sz="3600" dirty="0"/>
          </a:p>
        </p:txBody>
      </p:sp>
      <p:sp>
        <p:nvSpPr>
          <p:cNvPr id="8" name="fact-1-label"/>
          <p:cNvSpPr txBox="1"/>
          <p:nvPr/>
        </p:nvSpPr>
        <p:spPr>
          <a:xfrm>
            <a:off x="777240" y="3751326"/>
            <a:ext cx="3749040" cy="566928"/>
          </a:xfrm>
          <a:prstGeom prst="rect">
            <a:avLst/>
          </a:prstGeom>
          <a:noFill/>
          <a:ln/>
        </p:spPr>
        <p:txBody>
          <a:bodyPr wrap="square" lIns="0" tIns="0" rIns="0" bIns="0" rtlCol="0" anchor="t"/>
          <a:lstStyle/>
          <a:p>
            <a:pPr indent="0" marL="0">
              <a:buNone/>
            </a:pPr>
            <a:r>
              <a:rPr lang="en-US" sz="1400" dirty="0">
                <a:solidFill>
                  <a:schemeClr val="tx2"/>
                </a:solidFill>
              </a:rPr>
              <a:t>different datasets (students, sales)</a:t>
            </a:r>
            <a:endParaRPr lang="en-US" sz="1400" dirty="0"/>
          </a:p>
        </p:txBody>
      </p:sp>
      <p:sp>
        <p:nvSpPr>
          <p:cNvPr id="9" name="fact-2"/>
          <p:cNvSpPr/>
          <p:nvPr/>
        </p:nvSpPr>
        <p:spPr>
          <a:xfrm>
            <a:off x="548640" y="4572000"/>
            <a:ext cx="4206240" cy="1417320"/>
          </a:xfrm>
          <a:prstGeom prst="roundRect">
            <a:avLst>
              <a:gd name="adj" fmla="val 7742"/>
            </a:avLst>
          </a:prstGeom>
          <a:solidFill>
            <a:schemeClr val="bg2"/>
          </a:solidFill>
          <a:ln w="9525">
            <a:solidFill>
              <a:schemeClr val="bg2"/>
            </a:solidFill>
            <a:prstDash val="solid"/>
          </a:ln>
        </p:spPr>
      </p:sp>
      <p:sp>
        <p:nvSpPr>
          <p:cNvPr id="10" name="fact-2-value"/>
          <p:cNvSpPr txBox="1"/>
          <p:nvPr/>
        </p:nvSpPr>
        <p:spPr>
          <a:xfrm>
            <a:off x="777240" y="4754880"/>
            <a:ext cx="3749040" cy="708660"/>
          </a:xfrm>
          <a:prstGeom prst="rect">
            <a:avLst/>
          </a:prstGeom>
          <a:noFill/>
          <a:ln/>
        </p:spPr>
        <p:txBody>
          <a:bodyPr wrap="square" lIns="0" tIns="0" rIns="0" bIns="0" rtlCol="0" anchor="ctr"/>
          <a:lstStyle/>
          <a:p>
            <a:pPr indent="0" marL="0">
              <a:buNone/>
            </a:pPr>
            <a:r>
              <a:rPr lang="en-US" sz="3600" b="1" dirty="0">
                <a:solidFill>
                  <a:schemeClr val="accent3"/>
                </a:solidFill>
              </a:rPr>
              <a:t>pandas</a:t>
            </a:r>
            <a:endParaRPr lang="en-US" sz="3600" dirty="0"/>
          </a:p>
        </p:txBody>
      </p:sp>
      <p:sp>
        <p:nvSpPr>
          <p:cNvPr id="11" name="fact-2-label"/>
          <p:cNvSpPr txBox="1"/>
          <p:nvPr/>
        </p:nvSpPr>
        <p:spPr>
          <a:xfrm>
            <a:off x="777240" y="5351526"/>
            <a:ext cx="3749040" cy="566928"/>
          </a:xfrm>
          <a:prstGeom prst="rect">
            <a:avLst/>
          </a:prstGeom>
          <a:noFill/>
          <a:ln/>
        </p:spPr>
        <p:txBody>
          <a:bodyPr wrap="square" lIns="0" tIns="0" rIns="0" bIns="0" rtlCol="0" anchor="t"/>
          <a:lstStyle/>
          <a:p>
            <a:pPr indent="0" marL="0">
              <a:buNone/>
            </a:pPr>
            <a:r>
              <a:rPr lang="en-US" sz="1400" dirty="0">
                <a:solidFill>
                  <a:schemeClr val="tx2"/>
                </a:solidFill>
              </a:rPr>
              <a:t>computes every correct answer on its own, so there is no guessing or opinion</a:t>
            </a:r>
            <a:endParaRPr lang="en-US" sz="1400" dirty="0"/>
          </a:p>
        </p:txBody>
      </p:sp>
      <p:sp>
        <p:nvSpPr>
          <p:cNvPr id="12" name="Text 10"/>
          <p:cNvSpPr txBox="1"/>
          <p:nvPr/>
        </p:nvSpPr>
        <p:spPr>
          <a:xfrm>
            <a:off x="5120640" y="1371600"/>
            <a:ext cx="6492240" cy="731520"/>
          </a:xfrm>
          <a:prstGeom prst="rect">
            <a:avLst/>
          </a:prstGeom>
          <a:noFill/>
          <a:ln/>
        </p:spPr>
        <p:txBody>
          <a:bodyPr wrap="square" lIns="0" tIns="0" rIns="0" bIns="0" rtlCol="0" anchor="t"/>
          <a:lstStyle/>
          <a:p>
            <a:pPr indent="0" marL="0">
              <a:buNone/>
            </a:pPr>
            <a:r>
              <a:rPr lang="en-US" sz="1800" b="1" dirty="0">
                <a:solidFill>
                  <a:schemeClr val="tx1"/>
                </a:solidFill>
              </a:rPr>
              <a:t>A question counts as correct only if the final answer matches. Not just if the plan looked right.</a:t>
            </a:r>
            <a:endParaRPr lang="en-US" sz="1800" dirty="0"/>
          </a:p>
        </p:txBody>
      </p:sp>
      <p:sp>
        <p:nvSpPr>
          <p:cNvPr id="13" name="cat-0"/>
          <p:cNvSpPr/>
          <p:nvPr/>
        </p:nvSpPr>
        <p:spPr>
          <a:xfrm>
            <a:off x="5120640" y="2240280"/>
            <a:ext cx="2057400" cy="749808"/>
          </a:xfrm>
          <a:prstGeom prst="roundRect">
            <a:avLst>
              <a:gd name="adj" fmla="val 14634"/>
            </a:avLst>
          </a:prstGeom>
          <a:solidFill>
            <a:schemeClr val="bg2"/>
          </a:solidFill>
          <a:ln w="9525">
            <a:solidFill>
              <a:schemeClr val="bg2"/>
            </a:solidFill>
            <a:prstDash val="solid"/>
          </a:ln>
        </p:spPr>
      </p:sp>
      <p:sp>
        <p:nvSpPr>
          <p:cNvPr id="14" name="Text 12"/>
          <p:cNvSpPr txBox="1"/>
          <p:nvPr/>
        </p:nvSpPr>
        <p:spPr>
          <a:xfrm>
            <a:off x="5257800" y="231343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Aggregation</a:t>
            </a:r>
            <a:endParaRPr lang="en-US" sz="1400" dirty="0"/>
          </a:p>
        </p:txBody>
      </p:sp>
      <p:sp>
        <p:nvSpPr>
          <p:cNvPr id="15" name="Text 13"/>
          <p:cNvSpPr txBox="1"/>
          <p:nvPr/>
        </p:nvSpPr>
        <p:spPr>
          <a:xfrm>
            <a:off x="5257800" y="266090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6 questions</a:t>
            </a:r>
            <a:endParaRPr lang="en-US" sz="1200" dirty="0"/>
          </a:p>
        </p:txBody>
      </p:sp>
      <p:sp>
        <p:nvSpPr>
          <p:cNvPr id="16" name="cat-1"/>
          <p:cNvSpPr/>
          <p:nvPr/>
        </p:nvSpPr>
        <p:spPr>
          <a:xfrm>
            <a:off x="7315200" y="2240280"/>
            <a:ext cx="2057400" cy="749808"/>
          </a:xfrm>
          <a:prstGeom prst="roundRect">
            <a:avLst>
              <a:gd name="adj" fmla="val 14634"/>
            </a:avLst>
          </a:prstGeom>
          <a:solidFill>
            <a:schemeClr val="bg2"/>
          </a:solidFill>
          <a:ln w="9525">
            <a:solidFill>
              <a:schemeClr val="bg2"/>
            </a:solidFill>
            <a:prstDash val="solid"/>
          </a:ln>
        </p:spPr>
      </p:sp>
      <p:sp>
        <p:nvSpPr>
          <p:cNvPr id="17" name="Text 15"/>
          <p:cNvSpPr txBox="1"/>
          <p:nvPr/>
        </p:nvSpPr>
        <p:spPr>
          <a:xfrm>
            <a:off x="7452360" y="231343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Group-by</a:t>
            </a:r>
            <a:endParaRPr lang="en-US" sz="1400" dirty="0"/>
          </a:p>
        </p:txBody>
      </p:sp>
      <p:sp>
        <p:nvSpPr>
          <p:cNvPr id="18" name="Text 16"/>
          <p:cNvSpPr txBox="1"/>
          <p:nvPr/>
        </p:nvSpPr>
        <p:spPr>
          <a:xfrm>
            <a:off x="7452360" y="266090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7 questions</a:t>
            </a:r>
            <a:endParaRPr lang="en-US" sz="1200" dirty="0"/>
          </a:p>
        </p:txBody>
      </p:sp>
      <p:sp>
        <p:nvSpPr>
          <p:cNvPr id="19" name="cat-2"/>
          <p:cNvSpPr/>
          <p:nvPr/>
        </p:nvSpPr>
        <p:spPr>
          <a:xfrm>
            <a:off x="9509760" y="2240280"/>
            <a:ext cx="2057400" cy="749808"/>
          </a:xfrm>
          <a:prstGeom prst="roundRect">
            <a:avLst>
              <a:gd name="adj" fmla="val 14634"/>
            </a:avLst>
          </a:prstGeom>
          <a:solidFill>
            <a:schemeClr val="bg2"/>
          </a:solidFill>
          <a:ln w="9525">
            <a:solidFill>
              <a:schemeClr val="bg2"/>
            </a:solidFill>
            <a:prstDash val="solid"/>
          </a:ln>
        </p:spPr>
      </p:sp>
      <p:sp>
        <p:nvSpPr>
          <p:cNvPr id="20" name="Text 18"/>
          <p:cNvSpPr txBox="1"/>
          <p:nvPr/>
        </p:nvSpPr>
        <p:spPr>
          <a:xfrm>
            <a:off x="9646920" y="231343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Filtering</a:t>
            </a:r>
            <a:endParaRPr lang="en-US" sz="1400" dirty="0"/>
          </a:p>
        </p:txBody>
      </p:sp>
      <p:sp>
        <p:nvSpPr>
          <p:cNvPr id="21" name="Text 19"/>
          <p:cNvSpPr txBox="1"/>
          <p:nvPr/>
        </p:nvSpPr>
        <p:spPr>
          <a:xfrm>
            <a:off x="9646920" y="266090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6 questions</a:t>
            </a:r>
            <a:endParaRPr lang="en-US" sz="1200" dirty="0"/>
          </a:p>
        </p:txBody>
      </p:sp>
      <p:sp>
        <p:nvSpPr>
          <p:cNvPr id="22" name="cat-3"/>
          <p:cNvSpPr/>
          <p:nvPr/>
        </p:nvSpPr>
        <p:spPr>
          <a:xfrm>
            <a:off x="5120640" y="3108960"/>
            <a:ext cx="2057400" cy="749808"/>
          </a:xfrm>
          <a:prstGeom prst="roundRect">
            <a:avLst>
              <a:gd name="adj" fmla="val 14634"/>
            </a:avLst>
          </a:prstGeom>
          <a:solidFill>
            <a:schemeClr val="bg2"/>
          </a:solidFill>
          <a:ln w="9525">
            <a:solidFill>
              <a:schemeClr val="bg2"/>
            </a:solidFill>
            <a:prstDash val="solid"/>
          </a:ln>
        </p:spPr>
      </p:sp>
      <p:sp>
        <p:nvSpPr>
          <p:cNvPr id="23" name="Text 21"/>
          <p:cNvSpPr txBox="1"/>
          <p:nvPr/>
        </p:nvSpPr>
        <p:spPr>
          <a:xfrm>
            <a:off x="5257800" y="318211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Top-N</a:t>
            </a:r>
            <a:endParaRPr lang="en-US" sz="1400" dirty="0"/>
          </a:p>
        </p:txBody>
      </p:sp>
      <p:sp>
        <p:nvSpPr>
          <p:cNvPr id="24" name="Text 22"/>
          <p:cNvSpPr txBox="1"/>
          <p:nvPr/>
        </p:nvSpPr>
        <p:spPr>
          <a:xfrm>
            <a:off x="5257800" y="352958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3 questions</a:t>
            </a:r>
            <a:endParaRPr lang="en-US" sz="1200" dirty="0"/>
          </a:p>
        </p:txBody>
      </p:sp>
      <p:sp>
        <p:nvSpPr>
          <p:cNvPr id="25" name="cat-4"/>
          <p:cNvSpPr/>
          <p:nvPr/>
        </p:nvSpPr>
        <p:spPr>
          <a:xfrm>
            <a:off x="7315200" y="3108960"/>
            <a:ext cx="2057400" cy="749808"/>
          </a:xfrm>
          <a:prstGeom prst="roundRect">
            <a:avLst>
              <a:gd name="adj" fmla="val 14634"/>
            </a:avLst>
          </a:prstGeom>
          <a:solidFill>
            <a:schemeClr val="bg2"/>
          </a:solidFill>
          <a:ln w="9525">
            <a:solidFill>
              <a:schemeClr val="bg2"/>
            </a:solidFill>
            <a:prstDash val="solid"/>
          </a:ln>
        </p:spPr>
      </p:sp>
      <p:sp>
        <p:nvSpPr>
          <p:cNvPr id="26" name="Text 24"/>
          <p:cNvSpPr txBox="1"/>
          <p:nvPr/>
        </p:nvSpPr>
        <p:spPr>
          <a:xfrm>
            <a:off x="7452360" y="318211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Stats &amp; charts</a:t>
            </a:r>
            <a:endParaRPr lang="en-US" sz="1400" dirty="0"/>
          </a:p>
        </p:txBody>
      </p:sp>
      <p:sp>
        <p:nvSpPr>
          <p:cNvPr id="27" name="Text 25"/>
          <p:cNvSpPr txBox="1"/>
          <p:nvPr/>
        </p:nvSpPr>
        <p:spPr>
          <a:xfrm>
            <a:off x="7452360" y="352958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4 questions</a:t>
            </a:r>
            <a:endParaRPr lang="en-US" sz="1200" dirty="0"/>
          </a:p>
        </p:txBody>
      </p:sp>
      <p:sp>
        <p:nvSpPr>
          <p:cNvPr id="28" name="cat-5"/>
          <p:cNvSpPr/>
          <p:nvPr/>
        </p:nvSpPr>
        <p:spPr>
          <a:xfrm>
            <a:off x="9509760" y="3108960"/>
            <a:ext cx="2057400" cy="749808"/>
          </a:xfrm>
          <a:prstGeom prst="roundRect">
            <a:avLst>
              <a:gd name="adj" fmla="val 14634"/>
            </a:avLst>
          </a:prstGeom>
          <a:solidFill>
            <a:schemeClr val="bg2"/>
          </a:solidFill>
          <a:ln w="9525">
            <a:solidFill>
              <a:schemeClr val="bg2"/>
            </a:solidFill>
            <a:prstDash val="solid"/>
          </a:ln>
        </p:spPr>
      </p:sp>
      <p:sp>
        <p:nvSpPr>
          <p:cNvPr id="29" name="Text 27"/>
          <p:cNvSpPr txBox="1"/>
          <p:nvPr/>
        </p:nvSpPr>
        <p:spPr>
          <a:xfrm>
            <a:off x="9646920" y="318211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Advanced</a:t>
            </a:r>
            <a:endParaRPr lang="en-US" sz="1400" dirty="0"/>
          </a:p>
        </p:txBody>
      </p:sp>
      <p:sp>
        <p:nvSpPr>
          <p:cNvPr id="30" name="Text 28"/>
          <p:cNvSpPr txBox="1"/>
          <p:nvPr/>
        </p:nvSpPr>
        <p:spPr>
          <a:xfrm>
            <a:off x="9646920" y="352958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8 questions</a:t>
            </a:r>
            <a:endParaRPr lang="en-US" sz="1200" dirty="0"/>
          </a:p>
        </p:txBody>
      </p:sp>
      <p:sp>
        <p:nvSpPr>
          <p:cNvPr id="31" name="cat-6"/>
          <p:cNvSpPr/>
          <p:nvPr/>
        </p:nvSpPr>
        <p:spPr>
          <a:xfrm>
            <a:off x="5120640" y="3977640"/>
            <a:ext cx="2057400" cy="749808"/>
          </a:xfrm>
          <a:prstGeom prst="roundRect">
            <a:avLst>
              <a:gd name="adj" fmla="val 14634"/>
            </a:avLst>
          </a:prstGeom>
          <a:solidFill>
            <a:schemeClr val="bg2"/>
          </a:solidFill>
          <a:ln w="9525">
            <a:solidFill>
              <a:schemeClr val="bg2"/>
            </a:solidFill>
            <a:prstDash val="solid"/>
          </a:ln>
        </p:spPr>
      </p:sp>
      <p:sp>
        <p:nvSpPr>
          <p:cNvPr id="32" name="Text 30"/>
          <p:cNvSpPr txBox="1"/>
          <p:nvPr/>
        </p:nvSpPr>
        <p:spPr>
          <a:xfrm>
            <a:off x="5257800" y="405079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Refusal</a:t>
            </a:r>
            <a:endParaRPr lang="en-US" sz="1400" dirty="0"/>
          </a:p>
        </p:txBody>
      </p:sp>
      <p:sp>
        <p:nvSpPr>
          <p:cNvPr id="33" name="Text 31"/>
          <p:cNvSpPr txBox="1"/>
          <p:nvPr/>
        </p:nvSpPr>
        <p:spPr>
          <a:xfrm>
            <a:off x="5257800" y="439826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3 questions</a:t>
            </a:r>
            <a:endParaRPr lang="en-US" sz="1200" dirty="0"/>
          </a:p>
        </p:txBody>
      </p:sp>
      <p:sp>
        <p:nvSpPr>
          <p:cNvPr id="34" name="cat-7"/>
          <p:cNvSpPr/>
          <p:nvPr/>
        </p:nvSpPr>
        <p:spPr>
          <a:xfrm>
            <a:off x="7315200" y="3977640"/>
            <a:ext cx="2057400" cy="749808"/>
          </a:xfrm>
          <a:prstGeom prst="roundRect">
            <a:avLst>
              <a:gd name="adj" fmla="val 14634"/>
            </a:avLst>
          </a:prstGeom>
          <a:solidFill>
            <a:schemeClr val="bg2"/>
          </a:solidFill>
          <a:ln w="9525">
            <a:solidFill>
              <a:schemeClr val="bg2"/>
            </a:solidFill>
            <a:prstDash val="solid"/>
          </a:ln>
        </p:spPr>
      </p:sp>
      <p:sp>
        <p:nvSpPr>
          <p:cNvPr id="35" name="Text 33"/>
          <p:cNvSpPr txBox="1"/>
          <p:nvPr/>
        </p:nvSpPr>
        <p:spPr>
          <a:xfrm>
            <a:off x="7452360" y="405079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Error handling</a:t>
            </a:r>
            <a:endParaRPr lang="en-US" sz="1400" dirty="0"/>
          </a:p>
        </p:txBody>
      </p:sp>
      <p:sp>
        <p:nvSpPr>
          <p:cNvPr id="36" name="Text 34"/>
          <p:cNvSpPr txBox="1"/>
          <p:nvPr/>
        </p:nvSpPr>
        <p:spPr>
          <a:xfrm>
            <a:off x="7452360" y="439826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1 question</a:t>
            </a:r>
            <a:endParaRPr lang="en-US" sz="1200" dirty="0"/>
          </a:p>
        </p:txBody>
      </p:sp>
      <p:sp>
        <p:nvSpPr>
          <p:cNvPr id="37" name="cat-8"/>
          <p:cNvSpPr/>
          <p:nvPr/>
        </p:nvSpPr>
        <p:spPr>
          <a:xfrm>
            <a:off x="9509760" y="3977640"/>
            <a:ext cx="2057400" cy="749808"/>
          </a:xfrm>
          <a:prstGeom prst="roundRect">
            <a:avLst>
              <a:gd name="adj" fmla="val 14634"/>
            </a:avLst>
          </a:prstGeom>
          <a:solidFill>
            <a:schemeClr val="bg2"/>
          </a:solidFill>
          <a:ln w="9525">
            <a:solidFill>
              <a:schemeClr val="bg2"/>
            </a:solidFill>
            <a:prstDash val="solid"/>
          </a:ln>
        </p:spPr>
      </p:sp>
      <p:sp>
        <p:nvSpPr>
          <p:cNvPr id="38" name="Text 36"/>
          <p:cNvSpPr txBox="1"/>
          <p:nvPr/>
        </p:nvSpPr>
        <p:spPr>
          <a:xfrm>
            <a:off x="9646920" y="4050792"/>
            <a:ext cx="1828800" cy="365760"/>
          </a:xfrm>
          <a:prstGeom prst="rect">
            <a:avLst/>
          </a:prstGeom>
          <a:noFill/>
          <a:ln/>
        </p:spPr>
        <p:txBody>
          <a:bodyPr wrap="square" lIns="0" tIns="0" rIns="0" bIns="0" rtlCol="0" anchor="ctr"/>
          <a:lstStyle/>
          <a:p>
            <a:pPr indent="0" marL="0">
              <a:buNone/>
            </a:pPr>
            <a:r>
              <a:rPr lang="en-US" sz="1400" b="1" dirty="0">
                <a:solidFill>
                  <a:schemeClr val="tx1"/>
                </a:solidFill>
              </a:rPr>
              <a:t>Security</a:t>
            </a:r>
            <a:endParaRPr lang="en-US" sz="1400" dirty="0"/>
          </a:p>
        </p:txBody>
      </p:sp>
      <p:sp>
        <p:nvSpPr>
          <p:cNvPr id="39" name="Text 37"/>
          <p:cNvSpPr txBox="1"/>
          <p:nvPr/>
        </p:nvSpPr>
        <p:spPr>
          <a:xfrm>
            <a:off x="9646920" y="4398264"/>
            <a:ext cx="1828800" cy="274320"/>
          </a:xfrm>
          <a:prstGeom prst="rect">
            <a:avLst/>
          </a:prstGeom>
          <a:noFill/>
          <a:ln/>
        </p:spPr>
        <p:txBody>
          <a:bodyPr wrap="square" lIns="0" tIns="0" rIns="0" bIns="0" rtlCol="0" anchor="t"/>
          <a:lstStyle/>
          <a:p>
            <a:pPr indent="0" marL="0">
              <a:buNone/>
            </a:pPr>
            <a:r>
              <a:rPr lang="en-US" sz="1200" dirty="0">
                <a:solidFill>
                  <a:schemeClr val="accent6"/>
                </a:solidFill>
              </a:rPr>
              <a:t>2 questions</a:t>
            </a:r>
            <a:endParaRPr lang="en-US" sz="1200" dirty="0"/>
          </a:p>
        </p:txBody>
      </p:sp>
      <p:sp>
        <p:nvSpPr>
          <p:cNvPr id="40" name="Text 38"/>
          <p:cNvSpPr txBox="1"/>
          <p:nvPr/>
        </p:nvSpPr>
        <p:spPr>
          <a:xfrm>
            <a:off x="5120640" y="4983480"/>
            <a:ext cx="6492240" cy="1005840"/>
          </a:xfrm>
          <a:prstGeom prst="rect">
            <a:avLst/>
          </a:prstGeom>
          <a:noFill/>
          <a:ln/>
        </p:spPr>
        <p:txBody>
          <a:bodyPr wrap="square" lIns="0" tIns="0" rIns="0" bIns="0" rtlCol="0" anchor="t"/>
          <a:lstStyle/>
          <a:p>
            <a:pPr indent="0" marL="0">
              <a:buNone/>
            </a:pPr>
            <a:r>
              <a:rPr lang="en-US" sz="1500" b="1" dirty="0">
                <a:solidFill>
                  <a:schemeClr val="tx1"/>
                </a:solidFill>
              </a:rPr>
              <a:t>Two sets.  </a:t>
            </a:r>
            <a:pPr indent="0" marL="0">
              <a:buNone/>
            </a:pPr>
            <a:r>
              <a:rPr lang="en-US" sz="1500" dirty="0">
                <a:solidFill>
                  <a:schemeClr val="tx2"/>
                </a:solidFill>
              </a:rPr>
              <a:t>A main set of 40 questions, plus 25 new, differently-worded ones we did not tune against. That second set is the fairer test.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Accuracy results (offline rule-based planner)</a:t>
            </a:r>
            <a:endParaRPr lang="en-US" sz="3400" dirty="0"/>
          </a:p>
        </p:txBody>
      </p:sp>
      <p:graphicFrame>
        <p:nvGraphicFramePr>
          <p:cNvPr id="3" name="Chart 0" descr=""/>
          <p:cNvGraphicFramePr/>
          <p:nvPr/>
        </p:nvGraphicFramePr>
        <p:xfrm>
          <a:off x="548640" y="128016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4" name="found-box"/>
          <p:cNvSpPr/>
          <p:nvPr/>
        </p:nvSpPr>
        <p:spPr>
          <a:xfrm>
            <a:off x="6858000" y="1371600"/>
            <a:ext cx="4754880" cy="2651760"/>
          </a:xfrm>
          <a:prstGeom prst="roundRect">
            <a:avLst>
              <a:gd name="adj" fmla="val 4138"/>
            </a:avLst>
          </a:prstGeom>
          <a:solidFill>
            <a:schemeClr val="bg2"/>
          </a:solidFill>
          <a:ln w="9525">
            <a:solidFill>
              <a:schemeClr val="bg2"/>
            </a:solidFill>
            <a:prstDash val="solid"/>
          </a:ln>
        </p:spPr>
      </p:sp>
      <p:sp>
        <p:nvSpPr>
          <p:cNvPr id="5" name="Text 2"/>
          <p:cNvSpPr txBox="1"/>
          <p:nvPr/>
        </p:nvSpPr>
        <p:spPr>
          <a:xfrm>
            <a:off x="7132320" y="1508760"/>
            <a:ext cx="4206240" cy="365760"/>
          </a:xfrm>
          <a:prstGeom prst="rect">
            <a:avLst/>
          </a:prstGeom>
          <a:noFill/>
          <a:ln/>
        </p:spPr>
        <p:txBody>
          <a:bodyPr wrap="square" lIns="0" tIns="0" rIns="0" bIns="0" rtlCol="0" anchor="t"/>
          <a:lstStyle/>
          <a:p>
            <a:pPr indent="0" marL="0">
              <a:buNone/>
            </a:pPr>
            <a:r>
              <a:rPr lang="en-US" sz="1800" b="1" dirty="0">
                <a:solidFill>
                  <a:schemeClr val="tx1"/>
                </a:solidFill>
              </a:rPr>
              <a:t>What the new questions found</a:t>
            </a:r>
            <a:endParaRPr lang="en-US" sz="1800" dirty="0"/>
          </a:p>
        </p:txBody>
      </p:sp>
      <p:sp>
        <p:nvSpPr>
          <p:cNvPr id="6" name="Text 3"/>
          <p:cNvSpPr txBox="1"/>
          <p:nvPr/>
        </p:nvSpPr>
        <p:spPr>
          <a:xfrm>
            <a:off x="7132320" y="1920240"/>
            <a:ext cx="4206240" cy="2011680"/>
          </a:xfrm>
          <a:prstGeom prst="rect">
            <a:avLst/>
          </a:prstGeom>
          <a:noFill/>
          <a:ln/>
        </p:spPr>
        <p:txBody>
          <a:bodyPr wrap="square" lIns="0" tIns="0" rIns="0" bIns="0" rtlCol="0" anchor="t"/>
          <a:lstStyle/>
          <a:p>
            <a:pPr indent="0" marL="0">
              <a:spcAft>
                <a:spcPts val="800"/>
              </a:spcAft>
              <a:buNone/>
            </a:pPr>
            <a:r>
              <a:rPr lang="en-US" sz="1500" dirty="0">
                <a:solidFill>
                  <a:schemeClr val="tx2"/>
                </a:solidFill>
              </a:rPr>
              <a:t>1 miss out of 25: “average price of Electronics”. It ignored the “Electronics” filter, and “price” was not matched to unit_price.</a:t>
            </a:r>
            <a:endParaRPr lang="en-US" sz="1500" dirty="0"/>
          </a:p>
          <a:p>
            <a:pPr indent="0" marL="0">
              <a:buNone/>
            </a:pPr>
            <a:r>
              <a:rPr lang="en-US" sz="1500" b="1" dirty="0">
                <a:solidFill>
                  <a:schemeClr val="tx2"/>
                </a:solidFill>
              </a:rPr>
              <a:t>Both bugs were fixed and a regression test was added.</a:t>
            </a:r>
            <a:endParaRPr lang="en-US" sz="1500" dirty="0"/>
          </a:p>
        </p:txBody>
      </p:sp>
      <p:sp>
        <p:nvSpPr>
          <p:cNvPr id="7" name="honest-box"/>
          <p:cNvSpPr/>
          <p:nvPr/>
        </p:nvSpPr>
        <p:spPr>
          <a:xfrm>
            <a:off x="6858000" y="4297680"/>
            <a:ext cx="4754880" cy="1554480"/>
          </a:xfrm>
          <a:prstGeom prst="roundRect">
            <a:avLst>
              <a:gd name="adj" fmla="val 7059"/>
            </a:avLst>
          </a:prstGeom>
          <a:solidFill>
            <a:schemeClr val="tx1"/>
          </a:solidFill>
          <a:ln w="9525">
            <a:solidFill>
              <a:schemeClr val="tx1"/>
            </a:solidFill>
            <a:prstDash val="solid"/>
          </a:ln>
        </p:spPr>
      </p:sp>
      <p:sp>
        <p:nvSpPr>
          <p:cNvPr id="8" name="Text 5"/>
          <p:cNvSpPr txBox="1"/>
          <p:nvPr/>
        </p:nvSpPr>
        <p:spPr>
          <a:xfrm>
            <a:off x="7086600" y="4389120"/>
            <a:ext cx="4297680" cy="1371600"/>
          </a:xfrm>
          <a:prstGeom prst="rect">
            <a:avLst/>
          </a:prstGeom>
          <a:noFill/>
          <a:ln/>
        </p:spPr>
        <p:txBody>
          <a:bodyPr wrap="square" lIns="0" tIns="0" rIns="0" bIns="0" rtlCol="0" anchor="ctr"/>
          <a:lstStyle/>
          <a:p>
            <a:pPr indent="0" marL="0">
              <a:buNone/>
            </a:pPr>
            <a:r>
              <a:rPr lang="en-US" sz="1500" dirty="0">
                <a:solidFill>
                  <a:schemeClr val="bg1"/>
                </a:solidFill>
              </a:rPr>
              <a:t>Honest reading: the planner was tuned on the main set, so the first-run score on new questions (96%) is the fairer measure.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Accuracy results (the AI model: gpt-oss-120b)</a:t>
            </a:r>
            <a:endParaRPr lang="en-US" sz="3400" dirty="0"/>
          </a:p>
        </p:txBody>
      </p:sp>
      <p:graphicFrame>
        <p:nvGraphicFramePr>
          <p:cNvPr id="3" name="Chart 0" descr=""/>
          <p:cNvGraphicFramePr/>
          <p:nvPr/>
        </p:nvGraphicFramePr>
        <p:xfrm>
          <a:off x="548640" y="128016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486400"/>
            <a:ext cx="6035040" cy="731520"/>
          </a:xfrm>
          <a:prstGeom prst="rect">
            <a:avLst/>
          </a:prstGeom>
          <a:noFill/>
          <a:ln/>
        </p:spPr>
        <p:txBody>
          <a:bodyPr wrap="square" lIns="0" tIns="0" rIns="0" bIns="0" rtlCol="0" anchor="t"/>
          <a:lstStyle/>
          <a:p>
            <a:pPr indent="0" marL="0">
              <a:buNone/>
            </a:pPr>
            <a:r>
              <a:rPr lang="en-US" sz="1300" dirty="0">
                <a:solidFill>
                  <a:schemeClr val="tx2"/>
                </a:solidFill>
              </a:rPr>
              <a:t>2 of 65 missed: “how many orders were placed in the East region”, “total number of missing entries”.</a:t>
            </a:r>
            <a:endParaRPr lang="en-US" sz="1300" dirty="0"/>
          </a:p>
        </p:txBody>
      </p:sp>
      <p:sp>
        <p:nvSpPr>
          <p:cNvPr id="5" name="llm-lat"/>
          <p:cNvSpPr/>
          <p:nvPr/>
        </p:nvSpPr>
        <p:spPr>
          <a:xfrm>
            <a:off x="6858000" y="1371600"/>
            <a:ext cx="4754880" cy="1371600"/>
          </a:xfrm>
          <a:prstGeom prst="roundRect">
            <a:avLst>
              <a:gd name="adj" fmla="val 8000"/>
            </a:avLst>
          </a:prstGeom>
          <a:solidFill>
            <a:schemeClr val="bg2"/>
          </a:solidFill>
          <a:ln w="9525">
            <a:solidFill>
              <a:schemeClr val="bg2"/>
            </a:solidFill>
            <a:prstDash val="solid"/>
          </a:ln>
        </p:spPr>
      </p:sp>
      <p:sp>
        <p:nvSpPr>
          <p:cNvPr id="6" name="llm-lat-value"/>
          <p:cNvSpPr txBox="1"/>
          <p:nvPr/>
        </p:nvSpPr>
        <p:spPr>
          <a:xfrm>
            <a:off x="7086600" y="1554480"/>
            <a:ext cx="4297680" cy="685800"/>
          </a:xfrm>
          <a:prstGeom prst="rect">
            <a:avLst/>
          </a:prstGeom>
          <a:noFill/>
          <a:ln/>
        </p:spPr>
        <p:txBody>
          <a:bodyPr wrap="square" lIns="0" tIns="0" rIns="0" bIns="0" rtlCol="0" anchor="ctr"/>
          <a:lstStyle/>
          <a:p>
            <a:pPr indent="0" marL="0">
              <a:buNone/>
            </a:pPr>
            <a:r>
              <a:rPr lang="en-US" sz="3200" b="1" dirty="0">
                <a:solidFill>
                  <a:schemeClr val="accent2"/>
                </a:solidFill>
              </a:rPr>
              <a:t>1,129 ms</a:t>
            </a:r>
            <a:endParaRPr lang="en-US" sz="3200" dirty="0"/>
          </a:p>
        </p:txBody>
      </p:sp>
      <p:sp>
        <p:nvSpPr>
          <p:cNvPr id="7" name="llm-lat-label"/>
          <p:cNvSpPr txBox="1"/>
          <p:nvPr/>
        </p:nvSpPr>
        <p:spPr>
          <a:xfrm>
            <a:off x="7086600" y="2125980"/>
            <a:ext cx="4297680" cy="548640"/>
          </a:xfrm>
          <a:prstGeom prst="rect">
            <a:avLst/>
          </a:prstGeom>
          <a:noFill/>
          <a:ln/>
        </p:spPr>
        <p:txBody>
          <a:bodyPr wrap="square" lIns="0" tIns="0" rIns="0" bIns="0" rtlCol="0" anchor="t"/>
          <a:lstStyle/>
          <a:p>
            <a:pPr indent="0" marL="0">
              <a:buNone/>
            </a:pPr>
            <a:r>
              <a:rPr lang="en-US" sz="1400" dirty="0">
                <a:solidFill>
                  <a:schemeClr val="tx2"/>
                </a:solidFill>
              </a:rPr>
              <a:t>median time per question (95% finish within 1,778 ms)</a:t>
            </a:r>
            <a:endParaRPr lang="en-US" sz="1400" dirty="0"/>
          </a:p>
        </p:txBody>
      </p:sp>
      <p:sp>
        <p:nvSpPr>
          <p:cNvPr id="8" name="llm-tok"/>
          <p:cNvSpPr/>
          <p:nvPr/>
        </p:nvSpPr>
        <p:spPr>
          <a:xfrm>
            <a:off x="6858000" y="2880360"/>
            <a:ext cx="4754880" cy="1371600"/>
          </a:xfrm>
          <a:prstGeom prst="roundRect">
            <a:avLst>
              <a:gd name="adj" fmla="val 8000"/>
            </a:avLst>
          </a:prstGeom>
          <a:solidFill>
            <a:schemeClr val="bg2"/>
          </a:solidFill>
          <a:ln w="9525">
            <a:solidFill>
              <a:schemeClr val="bg2"/>
            </a:solidFill>
            <a:prstDash val="solid"/>
          </a:ln>
        </p:spPr>
      </p:sp>
      <p:sp>
        <p:nvSpPr>
          <p:cNvPr id="9" name="llm-tok-value"/>
          <p:cNvSpPr txBox="1"/>
          <p:nvPr/>
        </p:nvSpPr>
        <p:spPr>
          <a:xfrm>
            <a:off x="7086600" y="3063240"/>
            <a:ext cx="4297680" cy="685800"/>
          </a:xfrm>
          <a:prstGeom prst="rect">
            <a:avLst/>
          </a:prstGeom>
          <a:noFill/>
          <a:ln/>
        </p:spPr>
        <p:txBody>
          <a:bodyPr wrap="square" lIns="0" tIns="0" rIns="0" bIns="0" rtlCol="0" anchor="ctr"/>
          <a:lstStyle/>
          <a:p>
            <a:pPr indent="0" marL="0">
              <a:buNone/>
            </a:pPr>
            <a:r>
              <a:rPr lang="en-US" sz="2800" b="1" dirty="0">
                <a:solidFill>
                  <a:schemeClr val="accent1"/>
                </a:solidFill>
              </a:rPr>
              <a:t>2,232 in / 131 out</a:t>
            </a:r>
            <a:endParaRPr lang="en-US" sz="2800" dirty="0"/>
          </a:p>
        </p:txBody>
      </p:sp>
      <p:sp>
        <p:nvSpPr>
          <p:cNvPr id="10" name="llm-tok-label"/>
          <p:cNvSpPr txBox="1"/>
          <p:nvPr/>
        </p:nvSpPr>
        <p:spPr>
          <a:xfrm>
            <a:off x="7086600" y="3634740"/>
            <a:ext cx="4297680" cy="548640"/>
          </a:xfrm>
          <a:prstGeom prst="rect">
            <a:avLst/>
          </a:prstGeom>
          <a:noFill/>
          <a:ln/>
        </p:spPr>
        <p:txBody>
          <a:bodyPr wrap="square" lIns="0" tIns="0" rIns="0" bIns="0" rtlCol="0" anchor="t"/>
          <a:lstStyle/>
          <a:p>
            <a:pPr indent="0" marL="0">
              <a:buNone/>
            </a:pPr>
            <a:r>
              <a:rPr lang="en-US" sz="1400" dirty="0">
                <a:solidFill>
                  <a:schemeClr val="tx2"/>
                </a:solidFill>
              </a:rPr>
              <a:t>average tokens per question, counted by Groq</a:t>
            </a:r>
            <a:endParaRPr lang="en-US" sz="1400" dirty="0"/>
          </a:p>
        </p:txBody>
      </p:sp>
      <p:sp>
        <p:nvSpPr>
          <p:cNvPr id="11" name="llm-cost"/>
          <p:cNvSpPr/>
          <p:nvPr/>
        </p:nvSpPr>
        <p:spPr>
          <a:xfrm>
            <a:off x="6858000" y="4389120"/>
            <a:ext cx="4754880" cy="1371600"/>
          </a:xfrm>
          <a:prstGeom prst="roundRect">
            <a:avLst>
              <a:gd name="adj" fmla="val 8000"/>
            </a:avLst>
          </a:prstGeom>
          <a:solidFill>
            <a:schemeClr val="bg2"/>
          </a:solidFill>
          <a:ln w="9525">
            <a:solidFill>
              <a:schemeClr val="bg2"/>
            </a:solidFill>
            <a:prstDash val="solid"/>
          </a:ln>
        </p:spPr>
      </p:sp>
      <p:sp>
        <p:nvSpPr>
          <p:cNvPr id="12" name="llm-cost-value"/>
          <p:cNvSpPr txBox="1"/>
          <p:nvPr/>
        </p:nvSpPr>
        <p:spPr>
          <a:xfrm>
            <a:off x="7086600" y="4572000"/>
            <a:ext cx="4297680" cy="685800"/>
          </a:xfrm>
          <a:prstGeom prst="rect">
            <a:avLst/>
          </a:prstGeom>
          <a:noFill/>
          <a:ln/>
        </p:spPr>
        <p:txBody>
          <a:bodyPr wrap="square" lIns="0" tIns="0" rIns="0" bIns="0" rtlCol="0" anchor="ctr"/>
          <a:lstStyle/>
          <a:p>
            <a:pPr indent="0" marL="0">
              <a:buNone/>
            </a:pPr>
            <a:r>
              <a:rPr lang="en-US" sz="3200" b="1" dirty="0">
                <a:solidFill>
                  <a:schemeClr val="accent3"/>
                </a:solidFill>
              </a:rPr>
              <a:t>$0.41 per 1,000</a:t>
            </a:r>
            <a:endParaRPr lang="en-US" sz="3200" dirty="0"/>
          </a:p>
        </p:txBody>
      </p:sp>
      <p:sp>
        <p:nvSpPr>
          <p:cNvPr id="13" name="llm-cost-label"/>
          <p:cNvSpPr txBox="1"/>
          <p:nvPr/>
        </p:nvSpPr>
        <p:spPr>
          <a:xfrm>
            <a:off x="7086600" y="5143500"/>
            <a:ext cx="4297680" cy="548640"/>
          </a:xfrm>
          <a:prstGeom prst="rect">
            <a:avLst/>
          </a:prstGeom>
          <a:noFill/>
          <a:ln/>
        </p:spPr>
        <p:txBody>
          <a:bodyPr wrap="square" lIns="0" tIns="0" rIns="0" bIns="0" rtlCol="0" anchor="t"/>
          <a:lstStyle/>
          <a:p>
            <a:pPr indent="0" marL="0">
              <a:buNone/>
            </a:pPr>
            <a:r>
              <a:rPr lang="en-US" sz="1300" dirty="0">
                <a:solidFill>
                  <a:schemeClr val="tx2"/>
                </a:solidFill>
              </a:rPr>
              <a:t>questions at Groq's listed price ($0.15 in / $0.60 out per million tokens)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Speed: how fast is an answer?</a:t>
            </a:r>
            <a:endParaRPr lang="en-US" sz="3400" dirty="0"/>
          </a:p>
        </p:txBody>
      </p:sp>
      <p:sp>
        <p:nvSpPr>
          <p:cNvPr id="3" name="lat-median"/>
          <p:cNvSpPr/>
          <p:nvPr/>
        </p:nvSpPr>
        <p:spPr>
          <a:xfrm>
            <a:off x="548640" y="1371600"/>
            <a:ext cx="3566160" cy="1463040"/>
          </a:xfrm>
          <a:prstGeom prst="roundRect">
            <a:avLst>
              <a:gd name="adj" fmla="val 7500"/>
            </a:avLst>
          </a:prstGeom>
          <a:solidFill>
            <a:schemeClr val="bg2"/>
          </a:solidFill>
          <a:ln w="9525">
            <a:solidFill>
              <a:schemeClr val="bg2"/>
            </a:solidFill>
            <a:prstDash val="solid"/>
          </a:ln>
        </p:spPr>
      </p:sp>
      <p:sp>
        <p:nvSpPr>
          <p:cNvPr id="4" name="lat-median-value"/>
          <p:cNvSpPr txBox="1"/>
          <p:nvPr/>
        </p:nvSpPr>
        <p:spPr>
          <a:xfrm>
            <a:off x="777240" y="1554480"/>
            <a:ext cx="3108960" cy="731520"/>
          </a:xfrm>
          <a:prstGeom prst="rect">
            <a:avLst/>
          </a:prstGeom>
          <a:noFill/>
          <a:ln/>
        </p:spPr>
        <p:txBody>
          <a:bodyPr wrap="square" lIns="0" tIns="0" rIns="0" bIns="0" rtlCol="0" anchor="ctr"/>
          <a:lstStyle/>
          <a:p>
            <a:pPr indent="0" marL="0">
              <a:buNone/>
            </a:pPr>
            <a:r>
              <a:rPr lang="en-US" sz="3400" b="1" dirty="0">
                <a:solidFill>
                  <a:schemeClr val="accent1"/>
                </a:solidFill>
              </a:rPr>
              <a:t>1,129 ms</a:t>
            </a:r>
            <a:endParaRPr lang="en-US" sz="3400" dirty="0"/>
          </a:p>
        </p:txBody>
      </p:sp>
      <p:sp>
        <p:nvSpPr>
          <p:cNvPr id="5" name="lat-median-label"/>
          <p:cNvSpPr txBox="1"/>
          <p:nvPr/>
        </p:nvSpPr>
        <p:spPr>
          <a:xfrm>
            <a:off x="777240" y="2176272"/>
            <a:ext cx="3108960" cy="585216"/>
          </a:xfrm>
          <a:prstGeom prst="rect">
            <a:avLst/>
          </a:prstGeom>
          <a:noFill/>
          <a:ln/>
        </p:spPr>
        <p:txBody>
          <a:bodyPr wrap="square" lIns="0" tIns="0" rIns="0" bIns="0" rtlCol="0" anchor="t"/>
          <a:lstStyle/>
          <a:p>
            <a:pPr indent="0" marL="0">
              <a:buNone/>
            </a:pPr>
            <a:r>
              <a:rPr lang="en-US" sz="1400" dirty="0">
                <a:solidFill>
                  <a:schemeClr val="tx2"/>
                </a:solidFill>
              </a:rPr>
              <a:t>typical (median) time for the AI model to answer</a:t>
            </a:r>
            <a:endParaRPr lang="en-US" sz="1400" dirty="0"/>
          </a:p>
        </p:txBody>
      </p:sp>
      <p:sp>
        <p:nvSpPr>
          <p:cNvPr id="6" name="lat-p95"/>
          <p:cNvSpPr/>
          <p:nvPr/>
        </p:nvSpPr>
        <p:spPr>
          <a:xfrm>
            <a:off x="548640" y="3017520"/>
            <a:ext cx="3566160" cy="1463040"/>
          </a:xfrm>
          <a:prstGeom prst="roundRect">
            <a:avLst>
              <a:gd name="adj" fmla="val 7500"/>
            </a:avLst>
          </a:prstGeom>
          <a:solidFill>
            <a:schemeClr val="bg2"/>
          </a:solidFill>
          <a:ln w="9525">
            <a:solidFill>
              <a:schemeClr val="bg2"/>
            </a:solidFill>
            <a:prstDash val="solid"/>
          </a:ln>
        </p:spPr>
      </p:sp>
      <p:sp>
        <p:nvSpPr>
          <p:cNvPr id="7" name="lat-p95-value"/>
          <p:cNvSpPr txBox="1"/>
          <p:nvPr/>
        </p:nvSpPr>
        <p:spPr>
          <a:xfrm>
            <a:off x="777240" y="3200400"/>
            <a:ext cx="3108960" cy="731520"/>
          </a:xfrm>
          <a:prstGeom prst="rect">
            <a:avLst/>
          </a:prstGeom>
          <a:noFill/>
          <a:ln/>
        </p:spPr>
        <p:txBody>
          <a:bodyPr wrap="square" lIns="0" tIns="0" rIns="0" bIns="0" rtlCol="0" anchor="ctr"/>
          <a:lstStyle/>
          <a:p>
            <a:pPr indent="0" marL="0">
              <a:buNone/>
            </a:pPr>
            <a:r>
              <a:rPr lang="en-US" sz="3400" b="1" dirty="0">
                <a:solidFill>
                  <a:schemeClr val="accent2"/>
                </a:solidFill>
              </a:rPr>
              <a:t>1,778 ms</a:t>
            </a:r>
            <a:endParaRPr lang="en-US" sz="3400" dirty="0"/>
          </a:p>
        </p:txBody>
      </p:sp>
      <p:sp>
        <p:nvSpPr>
          <p:cNvPr id="8" name="lat-p95-label"/>
          <p:cNvSpPr txBox="1"/>
          <p:nvPr/>
        </p:nvSpPr>
        <p:spPr>
          <a:xfrm>
            <a:off x="777240" y="3822192"/>
            <a:ext cx="3108960" cy="585216"/>
          </a:xfrm>
          <a:prstGeom prst="rect">
            <a:avLst/>
          </a:prstGeom>
          <a:noFill/>
          <a:ln/>
        </p:spPr>
        <p:txBody>
          <a:bodyPr wrap="square" lIns="0" tIns="0" rIns="0" bIns="0" rtlCol="0" anchor="t"/>
          <a:lstStyle/>
          <a:p>
            <a:pPr indent="0" marL="0">
              <a:buNone/>
            </a:pPr>
            <a:r>
              <a:rPr lang="en-US" sz="1400" dirty="0">
                <a:solidFill>
                  <a:schemeClr val="tx2"/>
                </a:solidFill>
              </a:rPr>
              <a:t>95% of questions finish within this</a:t>
            </a:r>
            <a:endParaRPr lang="en-US" sz="1400" dirty="0"/>
          </a:p>
        </p:txBody>
      </p:sp>
      <p:sp>
        <p:nvSpPr>
          <p:cNvPr id="9" name="lat-rules"/>
          <p:cNvSpPr/>
          <p:nvPr/>
        </p:nvSpPr>
        <p:spPr>
          <a:xfrm>
            <a:off x="548640" y="4663440"/>
            <a:ext cx="3566160" cy="1188720"/>
          </a:xfrm>
          <a:prstGeom prst="roundRect">
            <a:avLst>
              <a:gd name="adj" fmla="val 9231"/>
            </a:avLst>
          </a:prstGeom>
          <a:solidFill>
            <a:schemeClr val="bg2"/>
          </a:solidFill>
          <a:ln w="9525">
            <a:solidFill>
              <a:schemeClr val="bg2"/>
            </a:solidFill>
            <a:prstDash val="solid"/>
          </a:ln>
        </p:spPr>
      </p:sp>
      <p:sp>
        <p:nvSpPr>
          <p:cNvPr id="10" name="lat-rules-value"/>
          <p:cNvSpPr txBox="1"/>
          <p:nvPr/>
        </p:nvSpPr>
        <p:spPr>
          <a:xfrm>
            <a:off x="777240" y="4846320"/>
            <a:ext cx="3108960" cy="594360"/>
          </a:xfrm>
          <a:prstGeom prst="rect">
            <a:avLst/>
          </a:prstGeom>
          <a:noFill/>
          <a:ln/>
        </p:spPr>
        <p:txBody>
          <a:bodyPr wrap="square" lIns="0" tIns="0" rIns="0" bIns="0" rtlCol="0" anchor="ctr"/>
          <a:lstStyle/>
          <a:p>
            <a:pPr indent="0" marL="0">
              <a:buNone/>
            </a:pPr>
            <a:r>
              <a:rPr lang="en-US" sz="3000" b="1" dirty="0">
                <a:solidFill>
                  <a:schemeClr val="accent3"/>
                </a:solidFill>
              </a:rPr>
              <a:t>2 ms</a:t>
            </a:r>
            <a:endParaRPr lang="en-US" sz="3000" dirty="0"/>
          </a:p>
        </p:txBody>
      </p:sp>
      <p:sp>
        <p:nvSpPr>
          <p:cNvPr id="11" name="lat-rules-label"/>
          <p:cNvSpPr txBox="1"/>
          <p:nvPr/>
        </p:nvSpPr>
        <p:spPr>
          <a:xfrm>
            <a:off x="777240" y="5317236"/>
            <a:ext cx="3108960" cy="475488"/>
          </a:xfrm>
          <a:prstGeom prst="rect">
            <a:avLst/>
          </a:prstGeom>
          <a:noFill/>
          <a:ln/>
        </p:spPr>
        <p:txBody>
          <a:bodyPr wrap="square" lIns="0" tIns="0" rIns="0" bIns="0" rtlCol="0" anchor="t"/>
          <a:lstStyle/>
          <a:p>
            <a:pPr indent="0" marL="0">
              <a:buNone/>
            </a:pPr>
            <a:r>
              <a:rPr lang="en-US" sz="1400" dirty="0">
                <a:solidFill>
                  <a:schemeClr val="tx2"/>
                </a:solidFill>
              </a:rPr>
              <a:t>rule-based backup (median, no AI call)</a:t>
            </a:r>
            <a:endParaRPr lang="en-US" sz="1400" dirty="0"/>
          </a:p>
        </p:txBody>
      </p:sp>
      <p:graphicFrame>
        <p:nvGraphicFramePr>
          <p:cNvPr id="12" name="Chart 0" descr=""/>
          <p:cNvGraphicFramePr/>
          <p:nvPr/>
        </p:nvGraphicFramePr>
        <p:xfrm>
          <a:off x="4389120" y="1280160"/>
          <a:ext cx="7223760" cy="356616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389120" y="4983480"/>
            <a:ext cx="7223760" cy="1097280"/>
          </a:xfrm>
          <a:prstGeom prst="rect">
            <a:avLst/>
          </a:prstGeom>
          <a:noFill/>
          <a:ln/>
        </p:spPr>
        <p:txBody>
          <a:bodyPr wrap="square" lIns="0" tIns="0" rIns="0" bIns="0" rtlCol="0" anchor="t"/>
          <a:lstStyle/>
          <a:p>
            <a:pPr indent="0" marL="0">
              <a:buNone/>
            </a:pPr>
            <a:r>
              <a:rPr lang="en-US" sz="1500" b="1" dirty="0">
                <a:solidFill>
                  <a:schemeClr val="tx1"/>
                </a:solidFill>
              </a:rPr>
              <a:t>The model's thinking is the slow part.  </a:t>
            </a:r>
            <a:pPr indent="0" marL="0">
              <a:buNone/>
            </a:pPr>
            <a:r>
              <a:rPr lang="en-US" sz="1500" dirty="0">
                <a:solidFill>
                  <a:schemeClr val="tx2"/>
                </a:solidFill>
              </a:rPr>
              <a:t>Planning with the AI takes about 1,217 ms on average; running the analysis on your data takes about 2.1 ms. Security checks stop bad questions in 0 ms, before the AI is called.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Safety and reliability checks</a:t>
            </a:r>
            <a:endParaRPr lang="en-US" sz="3400" dirty="0"/>
          </a:p>
        </p:txBody>
      </p:sp>
      <p:sp>
        <p:nvSpPr>
          <p:cNvPr id="3" name="icon-bg-FaShieldAlt"/>
          <p:cNvSpPr/>
          <p:nvPr/>
        </p:nvSpPr>
        <p:spPr>
          <a:xfrm>
            <a:off x="548640" y="1463040"/>
            <a:ext cx="822960" cy="822960"/>
          </a:xfrm>
          <a:prstGeom prst="ellipse">
            <a:avLst/>
          </a:prstGeom>
          <a:solidFill>
            <a:srgbClr val="10B981"/>
          </a:solidFill>
          <a:ln w="12700">
            <a:solidFill>
              <a:srgbClr val="10B981"/>
            </a:solidFill>
            <a:prstDash val="solid"/>
          </a:ln>
        </p:spPr>
      </p:sp>
      <p:pic>
        <p:nvPicPr>
          <p:cNvPr id="4" name="icon-FaShieldAlt" descr="preencoded.png">    </p:cNvPr>
          <p:cNvPicPr>
            <a:picLocks noChangeAspect="1"/>
          </p:cNvPicPr>
          <p:nvPr/>
        </p:nvPicPr>
        <p:blipFill>
          <a:blip r:embed="rId1"/>
          <a:stretch>
            <a:fillRect/>
          </a:stretch>
        </p:blipFill>
        <p:spPr>
          <a:xfrm>
            <a:off x="754380" y="1668780"/>
            <a:ext cx="411480" cy="411480"/>
          </a:xfrm>
          <a:prstGeom prst="rect">
            <a:avLst/>
          </a:prstGeom>
        </p:spPr>
      </p:pic>
      <p:sp>
        <p:nvSpPr>
          <p:cNvPr id="5" name="Text 2"/>
          <p:cNvSpPr txBox="1"/>
          <p:nvPr/>
        </p:nvSpPr>
        <p:spPr>
          <a:xfrm>
            <a:off x="1645920" y="1371600"/>
            <a:ext cx="2194560" cy="1005840"/>
          </a:xfrm>
          <a:prstGeom prst="rect">
            <a:avLst/>
          </a:prstGeom>
          <a:noFill/>
          <a:ln/>
        </p:spPr>
        <p:txBody>
          <a:bodyPr wrap="square" lIns="0" tIns="0" rIns="0" bIns="0" rtlCol="0" anchor="ctr"/>
          <a:lstStyle/>
          <a:p>
            <a:pPr indent="0" marL="0">
              <a:buNone/>
            </a:pPr>
            <a:r>
              <a:rPr lang="en-US" sz="2800" b="1" dirty="0">
                <a:solidFill>
                  <a:schemeClr val="tx1"/>
                </a:solidFill>
              </a:rPr>
              <a:t>4 of 4</a:t>
            </a:r>
            <a:endParaRPr lang="en-US" sz="2800" dirty="0"/>
          </a:p>
        </p:txBody>
      </p:sp>
      <p:sp>
        <p:nvSpPr>
          <p:cNvPr id="6" name="Text 3"/>
          <p:cNvSpPr txBox="1"/>
          <p:nvPr/>
        </p:nvSpPr>
        <p:spPr>
          <a:xfrm>
            <a:off x="3840480" y="1371600"/>
            <a:ext cx="4206240" cy="1005840"/>
          </a:xfrm>
          <a:prstGeom prst="rect">
            <a:avLst/>
          </a:prstGeom>
          <a:noFill/>
          <a:ln/>
        </p:spPr>
        <p:txBody>
          <a:bodyPr wrap="square" lIns="0" tIns="0" rIns="0" bIns="0" rtlCol="0" anchor="ctr"/>
          <a:lstStyle/>
          <a:p>
            <a:pPr indent="0" marL="0">
              <a:buNone/>
            </a:pPr>
            <a:r>
              <a:rPr lang="en-US" sz="1500" dirty="0">
                <a:solidFill>
                  <a:schemeClr val="tx2"/>
                </a:solidFill>
              </a:rPr>
              <a:t>code-injection attempts blocked before they reach the AI or the data (2 attempts, tried with both planners)</a:t>
            </a:r>
            <a:endParaRPr lang="en-US" sz="1500" dirty="0"/>
          </a:p>
        </p:txBody>
      </p:sp>
      <p:sp>
        <p:nvSpPr>
          <p:cNvPr id="7" name="icon-bg-FaQuestionCircle"/>
          <p:cNvSpPr/>
          <p:nvPr/>
        </p:nvSpPr>
        <p:spPr>
          <a:xfrm>
            <a:off x="548640" y="2651760"/>
            <a:ext cx="822960" cy="822960"/>
          </a:xfrm>
          <a:prstGeom prst="ellipse">
            <a:avLst/>
          </a:prstGeom>
          <a:solidFill>
            <a:srgbClr val="6366F1"/>
          </a:solidFill>
          <a:ln w="12700">
            <a:solidFill>
              <a:srgbClr val="6366F1"/>
            </a:solidFill>
            <a:prstDash val="solid"/>
          </a:ln>
        </p:spPr>
      </p:sp>
      <p:pic>
        <p:nvPicPr>
          <p:cNvPr id="8" name="icon-FaQuestionCircle" descr="preencoded.png">    </p:cNvPr>
          <p:cNvPicPr>
            <a:picLocks noChangeAspect="1"/>
          </p:cNvPicPr>
          <p:nvPr/>
        </p:nvPicPr>
        <p:blipFill>
          <a:blip r:embed="rId2"/>
          <a:stretch>
            <a:fillRect/>
          </a:stretch>
        </p:blipFill>
        <p:spPr>
          <a:xfrm>
            <a:off x="754380" y="2857500"/>
            <a:ext cx="411480" cy="411480"/>
          </a:xfrm>
          <a:prstGeom prst="rect">
            <a:avLst/>
          </a:prstGeom>
        </p:spPr>
      </p:pic>
      <p:sp>
        <p:nvSpPr>
          <p:cNvPr id="9" name="Text 5"/>
          <p:cNvSpPr txBox="1"/>
          <p:nvPr/>
        </p:nvSpPr>
        <p:spPr>
          <a:xfrm>
            <a:off x="1645920" y="2560320"/>
            <a:ext cx="2194560" cy="1005840"/>
          </a:xfrm>
          <a:prstGeom prst="rect">
            <a:avLst/>
          </a:prstGeom>
          <a:noFill/>
          <a:ln/>
        </p:spPr>
        <p:txBody>
          <a:bodyPr wrap="square" lIns="0" tIns="0" rIns="0" bIns="0" rtlCol="0" anchor="ctr"/>
          <a:lstStyle/>
          <a:p>
            <a:pPr indent="0" marL="0">
              <a:buNone/>
            </a:pPr>
            <a:r>
              <a:rPr lang="en-US" sz="2800" b="1" dirty="0">
                <a:solidFill>
                  <a:schemeClr val="tx1"/>
                </a:solidFill>
              </a:rPr>
              <a:t>6 of 6</a:t>
            </a:r>
            <a:endParaRPr lang="en-US" sz="2800" dirty="0"/>
          </a:p>
        </p:txBody>
      </p:sp>
      <p:sp>
        <p:nvSpPr>
          <p:cNvPr id="10" name="Text 6"/>
          <p:cNvSpPr txBox="1"/>
          <p:nvPr/>
        </p:nvSpPr>
        <p:spPr>
          <a:xfrm>
            <a:off x="3840480" y="2560320"/>
            <a:ext cx="4206240" cy="1005840"/>
          </a:xfrm>
          <a:prstGeom prst="rect">
            <a:avLst/>
          </a:prstGeom>
          <a:noFill/>
          <a:ln/>
        </p:spPr>
        <p:txBody>
          <a:bodyPr wrap="square" lIns="0" tIns="0" rIns="0" bIns="0" rtlCol="0" anchor="ctr"/>
          <a:lstStyle/>
          <a:p>
            <a:pPr indent="0" marL="0">
              <a:buNone/>
            </a:pPr>
            <a:r>
              <a:rPr lang="en-US" sz="1500" dirty="0">
                <a:solidFill>
                  <a:schemeClr val="tx2"/>
                </a:solidFill>
              </a:rPr>
              <a:t>out-of-scope questions refused by the rule planner; the AI model: 6 of 6 (weather, president, poem, joke, sports)</a:t>
            </a:r>
            <a:endParaRPr lang="en-US" sz="1500" dirty="0"/>
          </a:p>
        </p:txBody>
      </p:sp>
      <p:sp>
        <p:nvSpPr>
          <p:cNvPr id="11" name="icon-bg-FaCheckCircle"/>
          <p:cNvSpPr/>
          <p:nvPr/>
        </p:nvSpPr>
        <p:spPr>
          <a:xfrm>
            <a:off x="548640" y="3840480"/>
            <a:ext cx="822960" cy="822960"/>
          </a:xfrm>
          <a:prstGeom prst="ellipse">
            <a:avLst/>
          </a:prstGeom>
          <a:solidFill>
            <a:srgbClr val="F59E0B"/>
          </a:solidFill>
          <a:ln w="12700">
            <a:solidFill>
              <a:srgbClr val="F59E0B"/>
            </a:solidFill>
            <a:prstDash val="solid"/>
          </a:ln>
        </p:spPr>
      </p:sp>
      <p:pic>
        <p:nvPicPr>
          <p:cNvPr id="12" name="icon-FaCheckCircle" descr="preencoded.png">    </p:cNvPr>
          <p:cNvPicPr>
            <a:picLocks noChangeAspect="1"/>
          </p:cNvPicPr>
          <p:nvPr/>
        </p:nvPicPr>
        <p:blipFill>
          <a:blip r:embed="rId3"/>
          <a:stretch>
            <a:fillRect/>
          </a:stretch>
        </p:blipFill>
        <p:spPr>
          <a:xfrm>
            <a:off x="754380" y="4046220"/>
            <a:ext cx="411480" cy="411480"/>
          </a:xfrm>
          <a:prstGeom prst="rect">
            <a:avLst/>
          </a:prstGeom>
        </p:spPr>
      </p:pic>
      <p:sp>
        <p:nvSpPr>
          <p:cNvPr id="13" name="Text 8"/>
          <p:cNvSpPr txBox="1"/>
          <p:nvPr/>
        </p:nvSpPr>
        <p:spPr>
          <a:xfrm>
            <a:off x="1645920" y="3749040"/>
            <a:ext cx="2194560" cy="1005840"/>
          </a:xfrm>
          <a:prstGeom prst="rect">
            <a:avLst/>
          </a:prstGeom>
          <a:noFill/>
          <a:ln/>
        </p:spPr>
        <p:txBody>
          <a:bodyPr wrap="square" lIns="0" tIns="0" rIns="0" bIns="0" rtlCol="0" anchor="ctr"/>
          <a:lstStyle/>
          <a:p>
            <a:pPr indent="0" marL="0">
              <a:buNone/>
            </a:pPr>
            <a:r>
              <a:rPr lang="en-US" sz="2800" b="1" dirty="0">
                <a:solidFill>
                  <a:schemeClr val="tx1"/>
                </a:solidFill>
              </a:rPr>
              <a:t>7 of 7</a:t>
            </a:r>
            <a:endParaRPr lang="en-US" sz="2800" dirty="0"/>
          </a:p>
        </p:txBody>
      </p:sp>
      <p:sp>
        <p:nvSpPr>
          <p:cNvPr id="14" name="Text 9"/>
          <p:cNvSpPr txBox="1"/>
          <p:nvPr/>
        </p:nvSpPr>
        <p:spPr>
          <a:xfrm>
            <a:off x="3840480" y="3749040"/>
            <a:ext cx="4206240" cy="1005840"/>
          </a:xfrm>
          <a:prstGeom prst="rect">
            <a:avLst/>
          </a:prstGeom>
          <a:noFill/>
          <a:ln/>
        </p:spPr>
        <p:txBody>
          <a:bodyPr wrap="square" lIns="0" tIns="0" rIns="0" bIns="0" rtlCol="0" anchor="ctr"/>
          <a:lstStyle/>
          <a:p>
            <a:pPr indent="0" marL="0">
              <a:buNone/>
            </a:pPr>
            <a:r>
              <a:rPr lang="en-US" sz="1500" dirty="0">
                <a:solidFill>
                  <a:schemeClr val="tx2"/>
                </a:solidFill>
              </a:rPr>
              <a:t>malicious AI plans rejected in unit tests (code, SQL, links, bad operations)</a:t>
            </a:r>
            <a:endParaRPr lang="en-US" sz="1500" dirty="0"/>
          </a:p>
        </p:txBody>
      </p:sp>
      <p:sp>
        <p:nvSpPr>
          <p:cNvPr id="15" name="icon-bg-FaCogs"/>
          <p:cNvSpPr/>
          <p:nvPr/>
        </p:nvSpPr>
        <p:spPr>
          <a:xfrm>
            <a:off x="548640" y="5029200"/>
            <a:ext cx="822960" cy="822960"/>
          </a:xfrm>
          <a:prstGeom prst="ellipse">
            <a:avLst/>
          </a:prstGeom>
          <a:solidFill>
            <a:srgbClr val="0EA5E9"/>
          </a:solidFill>
          <a:ln w="12700">
            <a:solidFill>
              <a:srgbClr val="0EA5E9"/>
            </a:solidFill>
            <a:prstDash val="solid"/>
          </a:ln>
        </p:spPr>
      </p:sp>
      <p:pic>
        <p:nvPicPr>
          <p:cNvPr id="16" name="icon-FaCogs" descr="preencoded.png">    </p:cNvPr>
          <p:cNvPicPr>
            <a:picLocks noChangeAspect="1"/>
          </p:cNvPicPr>
          <p:nvPr/>
        </p:nvPicPr>
        <p:blipFill>
          <a:blip r:embed="rId4"/>
          <a:stretch>
            <a:fillRect/>
          </a:stretch>
        </p:blipFill>
        <p:spPr>
          <a:xfrm>
            <a:off x="754380" y="5234940"/>
            <a:ext cx="411480" cy="411480"/>
          </a:xfrm>
          <a:prstGeom prst="rect">
            <a:avLst/>
          </a:prstGeom>
        </p:spPr>
      </p:pic>
      <p:sp>
        <p:nvSpPr>
          <p:cNvPr id="17" name="Text 11"/>
          <p:cNvSpPr txBox="1"/>
          <p:nvPr/>
        </p:nvSpPr>
        <p:spPr>
          <a:xfrm>
            <a:off x="1645920" y="4937760"/>
            <a:ext cx="2194560" cy="1005840"/>
          </a:xfrm>
          <a:prstGeom prst="rect">
            <a:avLst/>
          </a:prstGeom>
          <a:noFill/>
          <a:ln/>
        </p:spPr>
        <p:txBody>
          <a:bodyPr wrap="square" lIns="0" tIns="0" rIns="0" bIns="0" rtlCol="0" anchor="ctr"/>
          <a:lstStyle/>
          <a:p>
            <a:pPr indent="0" marL="0">
              <a:buNone/>
            </a:pPr>
            <a:r>
              <a:rPr lang="en-US" sz="2800" b="1" dirty="0">
                <a:solidFill>
                  <a:schemeClr val="tx1"/>
                </a:solidFill>
              </a:rPr>
              <a:t>No crash</a:t>
            </a:r>
            <a:endParaRPr lang="en-US" sz="2800" dirty="0"/>
          </a:p>
        </p:txBody>
      </p:sp>
      <p:sp>
        <p:nvSpPr>
          <p:cNvPr id="18" name="Text 12"/>
          <p:cNvSpPr txBox="1"/>
          <p:nvPr/>
        </p:nvSpPr>
        <p:spPr>
          <a:xfrm>
            <a:off x="3840480" y="4937760"/>
            <a:ext cx="4206240" cy="1005840"/>
          </a:xfrm>
          <a:prstGeom prst="rect">
            <a:avLst/>
          </a:prstGeom>
          <a:noFill/>
          <a:ln/>
        </p:spPr>
        <p:txBody>
          <a:bodyPr wrap="square" lIns="0" tIns="0" rIns="0" bIns="0" rtlCol="0" anchor="ctr"/>
          <a:lstStyle/>
          <a:p>
            <a:pPr indent="0" marL="0">
              <a:buNone/>
            </a:pPr>
            <a:r>
              <a:rPr lang="en-US" sz="1500" dirty="0">
                <a:solidFill>
                  <a:schemeClr val="tx2"/>
                </a:solidFill>
              </a:rPr>
              <a:t>if the AI key fails or the model times out: the app falls back and still answers</a:t>
            </a:r>
            <a:endParaRPr lang="en-US" sz="1500" dirty="0"/>
          </a:p>
        </p:txBody>
      </p:sp>
      <p:sp>
        <p:nvSpPr>
          <p:cNvPr id="19" name="tests"/>
          <p:cNvSpPr/>
          <p:nvPr/>
        </p:nvSpPr>
        <p:spPr>
          <a:xfrm>
            <a:off x="8412480" y="1371600"/>
            <a:ext cx="3200400" cy="2377440"/>
          </a:xfrm>
          <a:prstGeom prst="roundRect">
            <a:avLst>
              <a:gd name="adj" fmla="val 4615"/>
            </a:avLst>
          </a:prstGeom>
          <a:solidFill>
            <a:schemeClr val="tx1"/>
          </a:solidFill>
          <a:ln w="9525">
            <a:solidFill>
              <a:schemeClr val="tx1"/>
            </a:solidFill>
            <a:prstDash val="solid"/>
          </a:ln>
        </p:spPr>
      </p:sp>
      <p:sp>
        <p:nvSpPr>
          <p:cNvPr id="20" name="tests-value"/>
          <p:cNvSpPr txBox="1"/>
          <p:nvPr/>
        </p:nvSpPr>
        <p:spPr>
          <a:xfrm>
            <a:off x="8641080" y="1554480"/>
            <a:ext cx="2743200" cy="1188720"/>
          </a:xfrm>
          <a:prstGeom prst="rect">
            <a:avLst/>
          </a:prstGeom>
          <a:noFill/>
          <a:ln/>
        </p:spPr>
        <p:txBody>
          <a:bodyPr wrap="square" lIns="0" tIns="0" rIns="0" bIns="0" rtlCol="0" anchor="ctr"/>
          <a:lstStyle/>
          <a:p>
            <a:pPr indent="0" marL="0">
              <a:buNone/>
            </a:pPr>
            <a:r>
              <a:rPr lang="en-US" sz="7200" b="1" dirty="0">
                <a:solidFill>
                  <a:schemeClr val="accent1"/>
                </a:solidFill>
              </a:rPr>
              <a:t>92</a:t>
            </a:r>
            <a:endParaRPr lang="en-US" sz="7200" dirty="0"/>
          </a:p>
        </p:txBody>
      </p:sp>
      <p:sp>
        <p:nvSpPr>
          <p:cNvPr id="21" name="tests-label"/>
          <p:cNvSpPr txBox="1"/>
          <p:nvPr/>
        </p:nvSpPr>
        <p:spPr>
          <a:xfrm>
            <a:off x="8641080" y="2679192"/>
            <a:ext cx="2743200" cy="950976"/>
          </a:xfrm>
          <a:prstGeom prst="rect">
            <a:avLst/>
          </a:prstGeom>
          <a:noFill/>
          <a:ln/>
        </p:spPr>
        <p:txBody>
          <a:bodyPr wrap="square" lIns="0" tIns="0" rIns="0" bIns="0" rtlCol="0" anchor="t"/>
          <a:lstStyle/>
          <a:p>
            <a:pPr indent="0" marL="0">
              <a:buNone/>
            </a:pPr>
            <a:r>
              <a:rPr lang="en-US" sz="1500" dirty="0">
                <a:solidFill>
                  <a:schemeClr val="bg2"/>
                </a:solidFill>
              </a:rPr>
              <a:t>automated tests pass, covering upload, analysis, security, bad AI output and failures</a:t>
            </a:r>
            <a:endParaRPr lang="en-US" sz="1500" dirty="0"/>
          </a:p>
        </p:txBody>
      </p:sp>
      <p:sp>
        <p:nvSpPr>
          <p:cNvPr id="22" name="unknown-col"/>
          <p:cNvSpPr/>
          <p:nvPr/>
        </p:nvSpPr>
        <p:spPr>
          <a:xfrm>
            <a:off x="8412480" y="3977640"/>
            <a:ext cx="3200400" cy="1828800"/>
          </a:xfrm>
          <a:prstGeom prst="roundRect">
            <a:avLst>
              <a:gd name="adj" fmla="val 6000"/>
            </a:avLst>
          </a:prstGeom>
          <a:solidFill>
            <a:schemeClr val="bg2"/>
          </a:solidFill>
          <a:ln w="9525">
            <a:solidFill>
              <a:schemeClr val="bg2"/>
            </a:solidFill>
            <a:prstDash val="solid"/>
          </a:ln>
        </p:spPr>
      </p:sp>
      <p:sp>
        <p:nvSpPr>
          <p:cNvPr id="23" name="Text 17"/>
          <p:cNvSpPr txBox="1"/>
          <p:nvPr/>
        </p:nvSpPr>
        <p:spPr>
          <a:xfrm>
            <a:off x="8641080" y="4114800"/>
            <a:ext cx="2743200" cy="457200"/>
          </a:xfrm>
          <a:prstGeom prst="rect">
            <a:avLst/>
          </a:prstGeom>
          <a:noFill/>
          <a:ln/>
        </p:spPr>
        <p:txBody>
          <a:bodyPr wrap="square" lIns="0" tIns="0" rIns="0" bIns="0" rtlCol="0" anchor="t"/>
          <a:lstStyle/>
          <a:p>
            <a:pPr indent="0" marL="0">
              <a:buNone/>
            </a:pPr>
            <a:r>
              <a:rPr lang="en-US" sz="1500" b="1" dirty="0">
                <a:solidFill>
                  <a:schemeClr val="tx1"/>
                </a:solidFill>
              </a:rPr>
              <a:t>Wrong column? No guessing.</a:t>
            </a:r>
            <a:endParaRPr lang="en-US" sz="1500" dirty="0"/>
          </a:p>
        </p:txBody>
      </p:sp>
      <p:sp>
        <p:nvSpPr>
          <p:cNvPr id="24" name="Text 18"/>
          <p:cNvSpPr txBox="1"/>
          <p:nvPr/>
        </p:nvSpPr>
        <p:spPr>
          <a:xfrm>
            <a:off x="8641080" y="4572000"/>
            <a:ext cx="2743200" cy="1188720"/>
          </a:xfrm>
          <a:prstGeom prst="rect">
            <a:avLst/>
          </a:prstGeom>
          <a:noFill/>
          <a:ln/>
        </p:spPr>
        <p:txBody>
          <a:bodyPr wrap="square" lIns="0" tIns="0" rIns="0" bIns="0" rtlCol="0" anchor="t"/>
          <a:lstStyle/>
          <a:p>
            <a:pPr indent="0" marL="0">
              <a:buNone/>
            </a:pPr>
            <a:r>
              <a:rPr lang="en-US" sz="1400" dirty="0">
                <a:solidFill>
                  <a:schemeClr val="tx2"/>
                </a:solidFill>
              </a:rPr>
              <a:t>The app says which column it could not find and lists the real ones.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All the performance measures in one table</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743200"/>
                <a:gridCol w="3566160"/>
                <a:gridCol w="4754880"/>
              </a:tblGrid>
              <a:tr h="438912">
                <a:tc>
                  <a:txBody>
                    <a:bodyPr/>
                    <a:lstStyle/>
                    <a:p>
                      <a:pPr indent="0" marL="0">
                        <a:buNone/>
                      </a:pPr>
                      <a:r>
                        <a:rPr lang="en-US" sz="1400" b="1" dirty="0">
                          <a:solidFill>
                            <a:schemeClr val="bg1"/>
                          </a:solidFill>
                        </a:rPr>
                        <a:t>Measure</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means</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Result</a:t>
                      </a:r>
                      <a:endParaRPr lang="en-US" sz="14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tx1"/>
                          </a:solidFill>
                        </a:rPr>
                        <a:t>Accuracy: AI model</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Answers that are correct</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40/40 main · 23/25 new</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Accuracy: rule-based backup</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Answers that are correct</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40/40 main · 24/25 new (first run)</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Refusal accuracy</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Out-of-scope questions refused</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Rules 6 of 6 · AI 6 of 6</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Speed: AI model</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Time from question to answer</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Median 1,129 ms · 95% within 1,778 ms</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Speed: rule-based</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Same, without an AI call</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Median 2 ms · slowest 7 ms</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Tokens in / out</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Text sent to and written by the AI</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 2,232 in / 131 out (Groq count)</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Cost</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At Groq's listed price</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 $0.41 per 1,000 questions · 1 AI call per question</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38912">
                <a:tc>
                  <a:txBody>
                    <a:bodyPr/>
                    <a:lstStyle/>
                    <a:p>
                      <a:pPr indent="0" marL="0">
                        <a:buNone/>
                      </a:pPr>
                      <a:r>
                        <a:rPr lang="en-US" sz="1300" b="1" dirty="0">
                          <a:solidFill>
                            <a:schemeClr val="tx1"/>
                          </a:solidFill>
                        </a:rPr>
                        <a:t>Reliability</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rPr>
                        <a:t>Behaviour when the AI fails</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Falls back to rules and keeps answering</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Test coverage</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dirty="0">
                          <a:solidFill>
                            <a:schemeClr val="tx2"/>
                          </a:solidFill>
                        </a:rPr>
                        <a:t>Automated checks</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92 tests passing</a:t>
                      </a:r>
                      <a:endParaRPr lang="en-US" sz="1300" dirty="0"/>
                    </a:p>
                  </a:txBody>
                  <a:tcPr marL="109728" marR="109728"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6126480"/>
            <a:ext cx="11064240" cy="365760"/>
          </a:xfrm>
          <a:prstGeom prst="rect">
            <a:avLst/>
          </a:prstGeom>
          <a:noFill/>
          <a:ln/>
        </p:spPr>
        <p:txBody>
          <a:bodyPr wrap="square" lIns="0" tIns="0" rIns="0" bIns="0" rtlCol="0" anchor="t"/>
          <a:lstStyle/>
          <a:p>
            <a:pPr indent="0" marL="0">
              <a:buNone/>
            </a:pPr>
            <a:r>
              <a:rPr lang="en-US" sz="1300" dirty="0">
                <a:solidFill>
                  <a:schemeClr val="accent6"/>
                </a:solidFill>
              </a:rPr>
              <a:t>In the app, every answer shows its time and token use under “How this was calculated”.</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Limits of this evaluation, and next steps</a:t>
            </a:r>
            <a:endParaRPr lang="en-US" sz="3400" dirty="0"/>
          </a:p>
        </p:txBody>
      </p:sp>
      <p:sp>
        <p:nvSpPr>
          <p:cNvPr id="3" name="limits"/>
          <p:cNvSpPr/>
          <p:nvPr/>
        </p:nvSpPr>
        <p:spPr>
          <a:xfrm>
            <a:off x="548640" y="1371600"/>
            <a:ext cx="5394960" cy="4023360"/>
          </a:xfrm>
          <a:prstGeom prst="roundRect">
            <a:avLst>
              <a:gd name="adj" fmla="val 2727"/>
            </a:avLst>
          </a:prstGeom>
          <a:solidFill>
            <a:schemeClr val="bg2"/>
          </a:solidFill>
          <a:ln w="9525">
            <a:solidFill>
              <a:schemeClr val="bg2"/>
            </a:solidFill>
            <a:prstDash val="solid"/>
          </a:ln>
        </p:spPr>
      </p:sp>
      <p:sp>
        <p:nvSpPr>
          <p:cNvPr id="4" name="Text 2"/>
          <p:cNvSpPr txBox="1"/>
          <p:nvPr/>
        </p:nvSpPr>
        <p:spPr>
          <a:xfrm>
            <a:off x="822960" y="1508760"/>
            <a:ext cx="4846320" cy="411480"/>
          </a:xfrm>
          <a:prstGeom prst="rect">
            <a:avLst/>
          </a:prstGeom>
          <a:noFill/>
          <a:ln/>
        </p:spPr>
        <p:txBody>
          <a:bodyPr wrap="square" lIns="0" tIns="0" rIns="0" bIns="0" rtlCol="0" anchor="t"/>
          <a:lstStyle/>
          <a:p>
            <a:pPr indent="0" marL="0">
              <a:buNone/>
            </a:pPr>
            <a:r>
              <a:rPr lang="en-US" sz="2000" b="1" dirty="0">
                <a:solidFill>
                  <a:schemeClr val="tx1"/>
                </a:solidFill>
              </a:rPr>
              <a:t>Be aware</a:t>
            </a:r>
            <a:endParaRPr lang="en-US" sz="2000" dirty="0"/>
          </a:p>
        </p:txBody>
      </p:sp>
      <p:sp>
        <p:nvSpPr>
          <p:cNvPr id="5" name="Text 3"/>
          <p:cNvSpPr txBox="1"/>
          <p:nvPr/>
        </p:nvSpPr>
        <p:spPr>
          <a:xfrm>
            <a:off x="822960" y="2057400"/>
            <a:ext cx="4846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65 questions on 2 small, synthetic datasets is a small sample.</a:t>
            </a:r>
            <a:endParaRPr lang="en-US" sz="1600" dirty="0"/>
          </a:p>
          <a:p>
            <a:pPr marL="342900" indent="-342900">
              <a:spcAft>
                <a:spcPts val="800"/>
              </a:spcAft>
              <a:buSzPct val="100000"/>
              <a:buChar char="•"/>
            </a:pPr>
            <a:r>
              <a:rPr lang="en-US" sz="1600" dirty="0">
                <a:solidFill>
                  <a:schemeClr val="tx2"/>
                </a:solidFill>
              </a:rPr>
              <a:t>AI numbers come from one run; results can vary a little between runs. The free tier's token-per-minute cap slowed the run (555 s of waiting, not counted in speed).</a:t>
            </a:r>
            <a:endParaRPr lang="en-US" sz="1600" dirty="0"/>
          </a:p>
          <a:p>
            <a:pPr marL="342900" indent="-342900">
              <a:spcAft>
                <a:spcPts val="800"/>
              </a:spcAft>
              <a:buSzPct val="100000"/>
              <a:buChar char="•"/>
            </a:pPr>
            <a:r>
              <a:rPr lang="en-US" sz="1600" dirty="0">
                <a:solidFill>
                  <a:schemeClr val="tx2"/>
                </a:solidFill>
              </a:rPr>
              <a:t>This model thinks before answering, so it uses more output tokens and time than the plan alone needs.</a:t>
            </a:r>
            <a:endParaRPr lang="en-US" sz="1600" dirty="0"/>
          </a:p>
          <a:p>
            <a:pPr marL="342900" indent="-342900">
              <a:buSzPct val="100000"/>
              <a:buChar char="•"/>
            </a:pPr>
            <a:r>
              <a:rPr lang="en-US" sz="1600" dirty="0">
                <a:solidFill>
                  <a:schemeClr val="tx2"/>
                </a:solidFill>
              </a:rPr>
              <a:t>The rule-based backup only understands common phrasings.</a:t>
            </a:r>
            <a:endParaRPr lang="en-US" sz="1600" dirty="0"/>
          </a:p>
        </p:txBody>
      </p:sp>
      <p:sp>
        <p:nvSpPr>
          <p:cNvPr id="6" name="next"/>
          <p:cNvSpPr/>
          <p:nvPr/>
        </p:nvSpPr>
        <p:spPr>
          <a:xfrm>
            <a:off x="6217920" y="1371600"/>
            <a:ext cx="5394960" cy="4023360"/>
          </a:xfrm>
          <a:prstGeom prst="roundRect">
            <a:avLst>
              <a:gd name="adj" fmla="val 2727"/>
            </a:avLst>
          </a:prstGeom>
          <a:solidFill>
            <a:schemeClr val="bg1"/>
          </a:solidFill>
          <a:ln w="9525">
            <a:solidFill>
              <a:srgbClr val="E2E8F0"/>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492240" y="1508760"/>
            <a:ext cx="4846320" cy="411480"/>
          </a:xfrm>
          <a:prstGeom prst="rect">
            <a:avLst/>
          </a:prstGeom>
          <a:noFill/>
          <a:ln/>
        </p:spPr>
        <p:txBody>
          <a:bodyPr wrap="square" lIns="0" tIns="0" rIns="0" bIns="0" rtlCol="0" anchor="t"/>
          <a:lstStyle/>
          <a:p>
            <a:pPr indent="0" marL="0">
              <a:buNone/>
            </a:pPr>
            <a:r>
              <a:rPr lang="en-US" sz="2000" b="1" dirty="0">
                <a:solidFill>
                  <a:schemeClr val="tx1"/>
                </a:solidFill>
              </a:rPr>
              <a:t>Next steps</a:t>
            </a:r>
            <a:endParaRPr lang="en-US" sz="2000" dirty="0"/>
          </a:p>
        </p:txBody>
      </p:sp>
      <p:sp>
        <p:nvSpPr>
          <p:cNvPr id="8" name="Text 6"/>
          <p:cNvSpPr txBox="1"/>
          <p:nvPr/>
        </p:nvSpPr>
        <p:spPr>
          <a:xfrm>
            <a:off x="6492240" y="2057400"/>
            <a:ext cx="4846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Add worked examples to the AI prompt for the 2 misses (a count with a filter; counting missing entries).</a:t>
            </a:r>
            <a:endParaRPr lang="en-US" sz="1600" dirty="0"/>
          </a:p>
          <a:p>
            <a:pPr marL="342900" indent="-342900">
              <a:spcAft>
                <a:spcPts val="800"/>
              </a:spcAft>
              <a:buSzPct val="100000"/>
              <a:buChar char="•"/>
            </a:pPr>
            <a:r>
              <a:rPr lang="en-US" sz="1600" dirty="0">
                <a:solidFill>
                  <a:schemeClr val="tx2"/>
                </a:solidFill>
              </a:rPr>
              <a:t>Grow the question set to 100+ and repeat the AI run to see how stable it is.</a:t>
            </a:r>
            <a:endParaRPr lang="en-US" sz="1600" dirty="0"/>
          </a:p>
          <a:p>
            <a:pPr marL="342900" indent="-342900">
              <a:spcAft>
                <a:spcPts val="800"/>
              </a:spcAft>
              <a:buSzPct val="100000"/>
              <a:buChar char="•"/>
            </a:pPr>
            <a:r>
              <a:rPr lang="en-US" sz="1600" dirty="0">
                <a:solidFill>
                  <a:schemeClr val="tx2"/>
                </a:solidFill>
              </a:rPr>
              <a:t>Compare models: the 120B model against the smaller, cheaper gpt-oss-20b.</a:t>
            </a:r>
            <a:endParaRPr lang="en-US" sz="1600" dirty="0"/>
          </a:p>
          <a:p>
            <a:pPr marL="342900" indent="-342900">
              <a:spcAft>
                <a:spcPts val="800"/>
              </a:spcAft>
              <a:buSzPct val="100000"/>
              <a:buChar char="•"/>
            </a:pPr>
            <a:r>
              <a:rPr lang="en-US" sz="1600" dirty="0">
                <a:solidFill>
                  <a:schemeClr val="tx2"/>
                </a:solidFill>
              </a:rPr>
              <a:t>Cache the 1,554-token fixed instructions to cut cost and time.</a:t>
            </a:r>
            <a:endParaRPr lang="en-US" sz="1600" dirty="0"/>
          </a:p>
          <a:p>
            <a:pPr marL="342900" indent="-342900">
              <a:buSzPct val="100000"/>
              <a:buChar char="•"/>
            </a:pPr>
            <a:r>
              <a:rPr lang="en-US" sz="1600" dirty="0">
                <a:solidFill>
                  <a:schemeClr val="tx2"/>
                </a:solidFill>
              </a:rPr>
              <a:t>Test on real, messy datasets from outside the project.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3800" b="1" dirty="0">
                <a:solidFill>
                  <a:schemeClr val="bg1"/>
                </a:solidFill>
              </a:rPr>
              <a:t>What to remember</a:t>
            </a:r>
            <a:endParaRPr lang="en-US" sz="3800" dirty="0"/>
          </a:p>
        </p:txBody>
      </p:sp>
      <p:sp>
        <p:nvSpPr>
          <p:cNvPr id="3" name="icon-bg-FaCogs"/>
          <p:cNvSpPr/>
          <p:nvPr/>
        </p:nvSpPr>
        <p:spPr>
          <a:xfrm>
            <a:off x="731520" y="1828800"/>
            <a:ext cx="914400" cy="914400"/>
          </a:xfrm>
          <a:prstGeom prst="ellipse">
            <a:avLst/>
          </a:prstGeom>
          <a:solidFill>
            <a:srgbClr val="6366F1"/>
          </a:solidFill>
          <a:ln w="12700">
            <a:solidFill>
              <a:srgbClr val="6366F1"/>
            </a:solidFill>
            <a:prstDash val="solid"/>
          </a:ln>
        </p:spPr>
      </p:sp>
      <p:pic>
        <p:nvPicPr>
          <p:cNvPr id="4" name="icon-FaCogs" descr="preencoded.png">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9601200" cy="502920"/>
          </a:xfrm>
          <a:prstGeom prst="rect">
            <a:avLst/>
          </a:prstGeom>
          <a:noFill/>
          <a:ln/>
        </p:spPr>
        <p:txBody>
          <a:bodyPr wrap="square" lIns="0" tIns="0" rIns="0" bIns="0" rtlCol="0" anchor="ctr"/>
          <a:lstStyle/>
          <a:p>
            <a:pPr indent="0" marL="0">
              <a:buNone/>
            </a:pPr>
            <a:r>
              <a:rPr lang="en-US" sz="2600" b="1" dirty="0">
                <a:solidFill>
                  <a:schemeClr val="bg1"/>
                </a:solidFill>
              </a:rPr>
              <a:t>The AI plans, pandas calculates.</a:t>
            </a:r>
            <a:endParaRPr lang="en-US" sz="2600" dirty="0"/>
          </a:p>
        </p:txBody>
      </p:sp>
      <p:sp>
        <p:nvSpPr>
          <p:cNvPr id="6" name="Text 3"/>
          <p:cNvSpPr txBox="1"/>
          <p:nvPr/>
        </p:nvSpPr>
        <p:spPr>
          <a:xfrm>
            <a:off x="1920240" y="2377440"/>
            <a:ext cx="9601200" cy="640080"/>
          </a:xfrm>
          <a:prstGeom prst="rect">
            <a:avLst/>
          </a:prstGeom>
          <a:noFill/>
          <a:ln/>
        </p:spPr>
        <p:txBody>
          <a:bodyPr wrap="square" lIns="0" tIns="0" rIns="0" bIns="0" rtlCol="0" anchor="t"/>
          <a:lstStyle/>
          <a:p>
            <a:pPr indent="0" marL="0">
              <a:buNone/>
            </a:pPr>
            <a:r>
              <a:rPr lang="en-US" sz="1700" dirty="0">
                <a:solidFill>
                  <a:schemeClr val="bg2"/>
                </a:solidFill>
              </a:rPr>
              <a:t>Numbers come from real calculations, so they cannot be made up.</a:t>
            </a:r>
            <a:endParaRPr lang="en-US" sz="1700" dirty="0"/>
          </a:p>
        </p:txBody>
      </p:sp>
      <p:sp>
        <p:nvSpPr>
          <p:cNvPr id="7" name="icon-bg-FaCoins"/>
          <p:cNvSpPr/>
          <p:nvPr/>
        </p:nvSpPr>
        <p:spPr>
          <a:xfrm>
            <a:off x="731520" y="3246120"/>
            <a:ext cx="914400" cy="914400"/>
          </a:xfrm>
          <a:prstGeom prst="ellipse">
            <a:avLst/>
          </a:prstGeom>
          <a:solidFill>
            <a:srgbClr val="F59E0B"/>
          </a:solidFill>
          <a:ln w="12700">
            <a:solidFill>
              <a:srgbClr val="F59E0B"/>
            </a:solidFill>
            <a:prstDash val="solid"/>
          </a:ln>
        </p:spPr>
      </p:sp>
      <p:pic>
        <p:nvPicPr>
          <p:cNvPr id="8" name="icon-FaCoins" descr="preencoded.png">    </p:cNvPr>
          <p:cNvPicPr>
            <a:picLocks noChangeAspect="1"/>
          </p:cNvPicPr>
          <p:nvPr/>
        </p:nvPicPr>
        <p:blipFill>
          <a:blip r:embed="rId2"/>
          <a:stretch>
            <a:fillRect/>
          </a:stretch>
        </p:blipFill>
        <p:spPr>
          <a:xfrm>
            <a:off x="960120" y="3474720"/>
            <a:ext cx="457200" cy="457200"/>
          </a:xfrm>
          <a:prstGeom prst="rect">
            <a:avLst/>
          </a:prstGeom>
        </p:spPr>
      </p:pic>
      <p:sp>
        <p:nvSpPr>
          <p:cNvPr id="9" name="Text 5"/>
          <p:cNvSpPr txBox="1"/>
          <p:nvPr/>
        </p:nvSpPr>
        <p:spPr>
          <a:xfrm>
            <a:off x="1920240" y="3246120"/>
            <a:ext cx="9601200" cy="502920"/>
          </a:xfrm>
          <a:prstGeom prst="rect">
            <a:avLst/>
          </a:prstGeom>
          <a:noFill/>
          <a:ln/>
        </p:spPr>
        <p:txBody>
          <a:bodyPr wrap="square" lIns="0" tIns="0" rIns="0" bIns="0" rtlCol="0" anchor="ctr"/>
          <a:lstStyle/>
          <a:p>
            <a:pPr indent="0" marL="0">
              <a:buNone/>
            </a:pPr>
            <a:r>
              <a:rPr lang="en-US" sz="2600" b="1" dirty="0">
                <a:solidFill>
                  <a:schemeClr val="bg1"/>
                </a:solidFill>
              </a:rPr>
              <a:t>Small and steady cost.</a:t>
            </a:r>
            <a:endParaRPr lang="en-US" sz="2600" dirty="0"/>
          </a:p>
        </p:txBody>
      </p:sp>
      <p:sp>
        <p:nvSpPr>
          <p:cNvPr id="10" name="Text 6"/>
          <p:cNvSpPr txBox="1"/>
          <p:nvPr/>
        </p:nvSpPr>
        <p:spPr>
          <a:xfrm>
            <a:off x="1920240" y="3794760"/>
            <a:ext cx="9601200" cy="640080"/>
          </a:xfrm>
          <a:prstGeom prst="rect">
            <a:avLst/>
          </a:prstGeom>
          <a:noFill/>
          <a:ln/>
        </p:spPr>
        <p:txBody>
          <a:bodyPr wrap="square" lIns="0" tIns="0" rIns="0" bIns="0" rtlCol="0" anchor="t"/>
          <a:lstStyle/>
          <a:p>
            <a:pPr indent="0" marL="0">
              <a:buNone/>
            </a:pPr>
            <a:r>
              <a:rPr lang="en-US" sz="1700" dirty="0">
                <a:solidFill>
                  <a:schemeClr val="bg2"/>
                </a:solidFill>
              </a:rPr>
              <a:t>About 2,363 tokens (≈ $0.41 per 1,000 questions), however big the file is.</a:t>
            </a:r>
            <a:endParaRPr lang="en-US" sz="1700" dirty="0"/>
          </a:p>
        </p:txBody>
      </p:sp>
      <p:sp>
        <p:nvSpPr>
          <p:cNvPr id="11" name="icon-bg-FaCheckCircle"/>
          <p:cNvSpPr/>
          <p:nvPr/>
        </p:nvSpPr>
        <p:spPr>
          <a:xfrm>
            <a:off x="731520" y="4663440"/>
            <a:ext cx="914400" cy="914400"/>
          </a:xfrm>
          <a:prstGeom prst="ellipse">
            <a:avLst/>
          </a:prstGeom>
          <a:solidFill>
            <a:srgbClr val="10B981"/>
          </a:solidFill>
          <a:ln w="12700">
            <a:solidFill>
              <a:srgbClr val="10B981"/>
            </a:solidFill>
            <a:prstDash val="solid"/>
          </a:ln>
        </p:spPr>
      </p:sp>
      <p:pic>
        <p:nvPicPr>
          <p:cNvPr id="12" name="icon-FaCheckCircle" descr="preencoded.png">    </p:cNvPr>
          <p:cNvPicPr>
            <a:picLocks noChangeAspect="1"/>
          </p:cNvPicPr>
          <p:nvPr/>
        </p:nvPicPr>
        <p:blipFill>
          <a:blip r:embed="rId3"/>
          <a:stretch>
            <a:fillRect/>
          </a:stretch>
        </p:blipFill>
        <p:spPr>
          <a:xfrm>
            <a:off x="960120" y="4892040"/>
            <a:ext cx="457200" cy="457200"/>
          </a:xfrm>
          <a:prstGeom prst="rect">
            <a:avLst/>
          </a:prstGeom>
        </p:spPr>
      </p:pic>
      <p:sp>
        <p:nvSpPr>
          <p:cNvPr id="13" name="Text 8"/>
          <p:cNvSpPr txBox="1"/>
          <p:nvPr/>
        </p:nvSpPr>
        <p:spPr>
          <a:xfrm>
            <a:off x="1920240" y="4663440"/>
            <a:ext cx="9601200" cy="502920"/>
          </a:xfrm>
          <a:prstGeom prst="rect">
            <a:avLst/>
          </a:prstGeom>
          <a:noFill/>
          <a:ln/>
        </p:spPr>
        <p:txBody>
          <a:bodyPr wrap="square" lIns="0" tIns="0" rIns="0" bIns="0" rtlCol="0" anchor="ctr"/>
          <a:lstStyle/>
          <a:p>
            <a:pPr indent="0" marL="0">
              <a:buNone/>
            </a:pPr>
            <a:r>
              <a:rPr lang="en-US" sz="2600" b="1" dirty="0">
                <a:solidFill>
                  <a:schemeClr val="bg1"/>
                </a:solidFill>
              </a:rPr>
              <a:t>Measured, not assumed.</a:t>
            </a:r>
            <a:endParaRPr lang="en-US" sz="2600" dirty="0"/>
          </a:p>
        </p:txBody>
      </p:sp>
      <p:sp>
        <p:nvSpPr>
          <p:cNvPr id="14" name="Text 9"/>
          <p:cNvSpPr txBox="1"/>
          <p:nvPr/>
        </p:nvSpPr>
        <p:spPr>
          <a:xfrm>
            <a:off x="1920240" y="5212080"/>
            <a:ext cx="9601200" cy="640080"/>
          </a:xfrm>
          <a:prstGeom prst="rect">
            <a:avLst/>
          </a:prstGeom>
          <a:noFill/>
          <a:ln/>
        </p:spPr>
        <p:txBody>
          <a:bodyPr wrap="square" lIns="0" tIns="0" rIns="0" bIns="0" rtlCol="0" anchor="t"/>
          <a:lstStyle/>
          <a:p>
            <a:pPr indent="0" marL="0">
              <a:buNone/>
            </a:pPr>
            <a:r>
              <a:rPr lang="en-US" sz="1700" dirty="0">
                <a:solidFill>
                  <a:schemeClr val="bg2"/>
                </a:solidFill>
              </a:rPr>
              <a:t>AI model: 63/65 correct. Rule-based backup: 40/40 main, 24/25 on new questions at first run. 92 passing tests.</a:t>
            </a:r>
            <a:endParaRPr lang="en-US" sz="1700" dirty="0"/>
          </a:p>
        </p:txBody>
      </p:sp>
    </p:spTree>
  </p:cSld>
  <p:clrMapOvr>
    <a:masterClrMapping/>
  </p:clrMapOvr>
</p:sld>
</file>

<file path=ppt/theme/theme1.xml><?xml version="1.0" encoding="utf-8"?>
<a:theme xmlns:a="http://schemas.openxmlformats.org/drawingml/2006/main" name="ChatCSV Evaluation">
  <a:themeElements>
    <a:clrScheme name="ChatCSV Evaluation">
      <a:dk1>
        <a:srgbClr val="0F172A"/>
      </a:dk1>
      <a:lt1>
        <a:srgbClr val="FFFFFF"/>
      </a:lt1>
      <a:dk2>
        <a:srgbClr val="334155"/>
      </a:dk2>
      <a:lt2>
        <a:srgbClr val="F1F5F9"/>
      </a:lt2>
      <a:accent1>
        <a:srgbClr val="10B981"/>
      </a:accent1>
      <a:accent2>
        <a:srgbClr val="6366F1"/>
      </a:accent2>
      <a:accent3>
        <a:srgbClr val="F59E0B"/>
      </a:accent3>
      <a:accent4>
        <a:srgbClr val="EF4444"/>
      </a:accent4>
      <a:accent5>
        <a:srgbClr val="0EA5E9"/>
      </a:accent5>
      <a:accent6>
        <a:srgbClr val="64748B"/>
      </a:accent6>
      <a:hlink>
        <a:srgbClr val="0EA5E9"/>
      </a:hlink>
      <a:folHlink>
        <a:srgbClr val="6366F1"/>
      </a:folHlink>
    </a:clrScheme>
    <a:fontScheme name="ChatCSV Evalu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ChatCSV AI - Performance evaluation</dc:title>
  <dc:subject>PptxGenJS Presentation</dc:subject>
  <dc:creator>ChatCSV AI team</dc:creator>
  <cp:lastModifiedBy>ChatCSV AI team</cp:lastModifiedBy>
  <cp:revision>1</cp:revision>
  <dcterms:created xsi:type="dcterms:W3CDTF">2026-10-20T07:40:26Z</dcterms:created>
  <dcterms:modified xsi:type="dcterms:W3CDTF">2026-10-20T07:40:26Z</dcterms:modified>
</cp:coreProperties>
</file>